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T Firs Neue" charset="1" panose="0200050303000002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grpSp>
        <p:nvGrpSpPr>
          <p:cNvPr name="Group 2" id="2"/>
          <p:cNvGrpSpPr/>
          <p:nvPr/>
        </p:nvGrpSpPr>
        <p:grpSpPr>
          <a:xfrm rot="0">
            <a:off x="1896762" y="1028700"/>
            <a:ext cx="2900749" cy="753762"/>
            <a:chOff x="0" y="0"/>
            <a:chExt cx="763983" cy="198522"/>
          </a:xfrm>
        </p:grpSpPr>
        <p:sp>
          <p:nvSpPr>
            <p:cNvPr name="Freeform 3" id="3"/>
            <p:cNvSpPr/>
            <p:nvPr/>
          </p:nvSpPr>
          <p:spPr>
            <a:xfrm flipH="false" flipV="false" rot="0">
              <a:off x="0" y="0"/>
              <a:ext cx="763983" cy="198522"/>
            </a:xfrm>
            <a:custGeom>
              <a:avLst/>
              <a:gdLst/>
              <a:ahLst/>
              <a:cxnLst/>
              <a:rect r="r" b="b" t="t" l="l"/>
              <a:pathLst>
                <a:path h="198522" w="763983">
                  <a:moveTo>
                    <a:pt x="99261" y="0"/>
                  </a:moveTo>
                  <a:lnTo>
                    <a:pt x="664722" y="0"/>
                  </a:lnTo>
                  <a:cubicBezTo>
                    <a:pt x="719543" y="0"/>
                    <a:pt x="763983" y="44441"/>
                    <a:pt x="763983" y="99261"/>
                  </a:cubicBezTo>
                  <a:lnTo>
                    <a:pt x="763983" y="99261"/>
                  </a:lnTo>
                  <a:cubicBezTo>
                    <a:pt x="763983" y="154081"/>
                    <a:pt x="719543" y="198522"/>
                    <a:pt x="664722" y="198522"/>
                  </a:cubicBezTo>
                  <a:lnTo>
                    <a:pt x="99261" y="198522"/>
                  </a:lnTo>
                  <a:cubicBezTo>
                    <a:pt x="44441" y="198522"/>
                    <a:pt x="0" y="154081"/>
                    <a:pt x="0" y="99261"/>
                  </a:cubicBezTo>
                  <a:lnTo>
                    <a:pt x="0" y="99261"/>
                  </a:lnTo>
                  <a:cubicBezTo>
                    <a:pt x="0" y="44441"/>
                    <a:pt x="44441" y="0"/>
                    <a:pt x="99261" y="0"/>
                  </a:cubicBezTo>
                  <a:close/>
                </a:path>
              </a:pathLst>
            </a:custGeom>
            <a:solidFill>
              <a:srgbClr val="F3D339"/>
            </a:solidFill>
          </p:spPr>
        </p:sp>
        <p:sp>
          <p:nvSpPr>
            <p:cNvPr name="TextBox 4" id="4"/>
            <p:cNvSpPr txBox="true"/>
            <p:nvPr/>
          </p:nvSpPr>
          <p:spPr>
            <a:xfrm>
              <a:off x="0" y="-38100"/>
              <a:ext cx="763983" cy="23662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43203"/>
            <a:ext cx="315097" cy="315097"/>
          </a:xfrm>
          <a:custGeom>
            <a:avLst/>
            <a:gdLst/>
            <a:ahLst/>
            <a:cxnLst/>
            <a:rect r="r" b="b" t="t" l="l"/>
            <a:pathLst>
              <a:path h="315097" w="315097">
                <a:moveTo>
                  <a:pt x="0" y="0"/>
                </a:moveTo>
                <a:lnTo>
                  <a:pt x="315097" y="0"/>
                </a:lnTo>
                <a:lnTo>
                  <a:pt x="315097" y="315097"/>
                </a:lnTo>
                <a:lnTo>
                  <a:pt x="0" y="315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1028700"/>
            <a:ext cx="753762" cy="75376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C1C2"/>
            </a:solidFill>
          </p:spPr>
        </p:sp>
        <p:sp>
          <p:nvSpPr>
            <p:cNvPr name="TextBox 8" id="8"/>
            <p:cNvSpPr txBox="true"/>
            <p:nvPr/>
          </p:nvSpPr>
          <p:spPr>
            <a:xfrm>
              <a:off x="76200" y="142875"/>
              <a:ext cx="660400" cy="593725"/>
            </a:xfrm>
            <a:prstGeom prst="rect">
              <a:avLst/>
            </a:prstGeom>
          </p:spPr>
          <p:txBody>
            <a:bodyPr anchor="ctr" rtlCol="false" tIns="50800" lIns="50800" bIns="50800" rIns="50800"/>
            <a:lstStyle/>
            <a:p>
              <a:pPr algn="ctr">
                <a:lnSpc>
                  <a:spcPts val="1967"/>
                </a:lnSpc>
              </a:pPr>
            </a:p>
          </p:txBody>
        </p:sp>
      </p:grpSp>
      <p:sp>
        <p:nvSpPr>
          <p:cNvPr name="Freeform 9" id="9"/>
          <p:cNvSpPr/>
          <p:nvPr/>
        </p:nvSpPr>
        <p:spPr>
          <a:xfrm flipH="false" flipV="false" rot="0">
            <a:off x="1217141" y="1226666"/>
            <a:ext cx="376881" cy="376881"/>
          </a:xfrm>
          <a:custGeom>
            <a:avLst/>
            <a:gdLst/>
            <a:ahLst/>
            <a:cxnLst/>
            <a:rect r="r" b="b" t="t" l="l"/>
            <a:pathLst>
              <a:path h="376881" w="376881">
                <a:moveTo>
                  <a:pt x="0" y="0"/>
                </a:moveTo>
                <a:lnTo>
                  <a:pt x="376881" y="0"/>
                </a:lnTo>
                <a:lnTo>
                  <a:pt x="376881" y="376881"/>
                </a:lnTo>
                <a:lnTo>
                  <a:pt x="0" y="3768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682558"/>
            <a:ext cx="9657790" cy="3140960"/>
          </a:xfrm>
          <a:prstGeom prst="rect">
            <a:avLst/>
          </a:prstGeom>
        </p:spPr>
        <p:txBody>
          <a:bodyPr anchor="t" rtlCol="false" tIns="0" lIns="0" bIns="0" rIns="0">
            <a:spAutoFit/>
          </a:bodyPr>
          <a:lstStyle/>
          <a:p>
            <a:pPr algn="l">
              <a:lnSpc>
                <a:spcPts val="6055"/>
              </a:lnSpc>
            </a:pPr>
            <a:r>
              <a:rPr lang="en-US" sz="7041" spc="-492">
                <a:solidFill>
                  <a:srgbClr val="2A245E"/>
                </a:solidFill>
                <a:latin typeface="TT Firs Neue"/>
                <a:ea typeface="TT Firs Neue"/>
                <a:cs typeface="TT Firs Neue"/>
                <a:sym typeface="TT Firs Neue"/>
              </a:rPr>
              <a:t>DETECCIÓN DE ANOMALÍAS MEDIANTE ESCÁNER DE RAYOS X PARA EQUIPAJE</a:t>
            </a:r>
          </a:p>
        </p:txBody>
      </p:sp>
      <p:sp>
        <p:nvSpPr>
          <p:cNvPr name="TextBox 11" id="11"/>
          <p:cNvSpPr txBox="true"/>
          <p:nvPr/>
        </p:nvSpPr>
        <p:spPr>
          <a:xfrm rot="0">
            <a:off x="2121180" y="1184887"/>
            <a:ext cx="2451914" cy="527113"/>
          </a:xfrm>
          <a:prstGeom prst="rect">
            <a:avLst/>
          </a:prstGeom>
        </p:spPr>
        <p:txBody>
          <a:bodyPr anchor="t" rtlCol="false" tIns="0" lIns="0" bIns="0" rIns="0">
            <a:spAutoFit/>
          </a:bodyPr>
          <a:lstStyle/>
          <a:p>
            <a:pPr algn="ctr">
              <a:lnSpc>
                <a:spcPts val="1967"/>
              </a:lnSpc>
            </a:pPr>
            <a:r>
              <a:rPr lang="en-US" sz="2288" spc="-160">
                <a:solidFill>
                  <a:srgbClr val="2A245E"/>
                </a:solidFill>
                <a:latin typeface="TT Firs Neue"/>
                <a:ea typeface="TT Firs Neue"/>
                <a:cs typeface="TT Firs Neue"/>
                <a:sym typeface="TT Firs Neue"/>
              </a:rPr>
              <a:t>VISION POR COMPUTADORA II</a:t>
            </a:r>
          </a:p>
        </p:txBody>
      </p:sp>
      <p:sp>
        <p:nvSpPr>
          <p:cNvPr name="TextBox 12" id="12"/>
          <p:cNvSpPr txBox="true"/>
          <p:nvPr/>
        </p:nvSpPr>
        <p:spPr>
          <a:xfrm rot="0">
            <a:off x="1594022" y="8940223"/>
            <a:ext cx="3888387" cy="378206"/>
          </a:xfrm>
          <a:prstGeom prst="rect">
            <a:avLst/>
          </a:prstGeom>
        </p:spPr>
        <p:txBody>
          <a:bodyPr anchor="t" rtlCol="false" tIns="0" lIns="0" bIns="0" rIns="0">
            <a:spAutoFit/>
          </a:bodyPr>
          <a:lstStyle/>
          <a:p>
            <a:pPr algn="l">
              <a:lnSpc>
                <a:spcPts val="1462"/>
              </a:lnSpc>
            </a:pPr>
            <a:r>
              <a:rPr lang="en-US" sz="1700" spc="-85">
                <a:solidFill>
                  <a:srgbClr val="2A245E"/>
                </a:solidFill>
                <a:latin typeface="TT Firs Neue"/>
                <a:ea typeface="TT Firs Neue"/>
                <a:cs typeface="TT Firs Neue"/>
                <a:sym typeface="TT Firs Neue"/>
              </a:rPr>
              <a:t>BERNARDO MAXIMILIANO JOSE</a:t>
            </a:r>
          </a:p>
          <a:p>
            <a:pPr algn="l">
              <a:lnSpc>
                <a:spcPts val="1462"/>
              </a:lnSpc>
            </a:pPr>
            <a:r>
              <a:rPr lang="en-US" sz="1700" spc="-85">
                <a:solidFill>
                  <a:srgbClr val="2A245E"/>
                </a:solidFill>
                <a:latin typeface="TT Firs Neue"/>
                <a:ea typeface="TT Firs Neue"/>
                <a:cs typeface="TT Firs Neue"/>
                <a:sym typeface="TT Firs Neue"/>
              </a:rPr>
              <a:t>TACCHELLA ALEJANDRO NICOLAS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grpSp>
        <p:nvGrpSpPr>
          <p:cNvPr name="Group 2" id="2"/>
          <p:cNvGrpSpPr/>
          <p:nvPr/>
        </p:nvGrpSpPr>
        <p:grpSpPr>
          <a:xfrm rot="0">
            <a:off x="13729259" y="1028700"/>
            <a:ext cx="2900749" cy="753762"/>
            <a:chOff x="0" y="0"/>
            <a:chExt cx="763983" cy="198522"/>
          </a:xfrm>
        </p:grpSpPr>
        <p:sp>
          <p:nvSpPr>
            <p:cNvPr name="Freeform 3" id="3"/>
            <p:cNvSpPr/>
            <p:nvPr/>
          </p:nvSpPr>
          <p:spPr>
            <a:xfrm flipH="false" flipV="false" rot="0">
              <a:off x="0" y="0"/>
              <a:ext cx="763983" cy="198522"/>
            </a:xfrm>
            <a:custGeom>
              <a:avLst/>
              <a:gdLst/>
              <a:ahLst/>
              <a:cxnLst/>
              <a:rect r="r" b="b" t="t" l="l"/>
              <a:pathLst>
                <a:path h="198522" w="763983">
                  <a:moveTo>
                    <a:pt x="99261" y="0"/>
                  </a:moveTo>
                  <a:lnTo>
                    <a:pt x="664722" y="0"/>
                  </a:lnTo>
                  <a:cubicBezTo>
                    <a:pt x="719543" y="0"/>
                    <a:pt x="763983" y="44441"/>
                    <a:pt x="763983" y="99261"/>
                  </a:cubicBezTo>
                  <a:lnTo>
                    <a:pt x="763983" y="99261"/>
                  </a:lnTo>
                  <a:cubicBezTo>
                    <a:pt x="763983" y="154081"/>
                    <a:pt x="719543" y="198522"/>
                    <a:pt x="664722" y="198522"/>
                  </a:cubicBezTo>
                  <a:lnTo>
                    <a:pt x="99261" y="198522"/>
                  </a:lnTo>
                  <a:cubicBezTo>
                    <a:pt x="44441" y="198522"/>
                    <a:pt x="0" y="154081"/>
                    <a:pt x="0" y="99261"/>
                  </a:cubicBezTo>
                  <a:lnTo>
                    <a:pt x="0" y="99261"/>
                  </a:lnTo>
                  <a:cubicBezTo>
                    <a:pt x="0" y="44441"/>
                    <a:pt x="44441" y="0"/>
                    <a:pt x="99261" y="0"/>
                  </a:cubicBezTo>
                  <a:close/>
                </a:path>
              </a:pathLst>
            </a:custGeom>
            <a:solidFill>
              <a:srgbClr val="F3D339"/>
            </a:solidFill>
          </p:spPr>
        </p:sp>
        <p:sp>
          <p:nvSpPr>
            <p:cNvPr name="TextBox 4" id="4"/>
            <p:cNvSpPr txBox="true"/>
            <p:nvPr/>
          </p:nvSpPr>
          <p:spPr>
            <a:xfrm>
              <a:off x="0" y="-38100"/>
              <a:ext cx="763983" cy="2366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861197" y="1028700"/>
            <a:ext cx="753762" cy="75376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C1C2"/>
            </a:solidFill>
          </p:spPr>
        </p:sp>
        <p:sp>
          <p:nvSpPr>
            <p:cNvPr name="TextBox 7" id="7"/>
            <p:cNvSpPr txBox="true"/>
            <p:nvPr/>
          </p:nvSpPr>
          <p:spPr>
            <a:xfrm>
              <a:off x="76200" y="142875"/>
              <a:ext cx="660400" cy="593725"/>
            </a:xfrm>
            <a:prstGeom prst="rect">
              <a:avLst/>
            </a:prstGeom>
          </p:spPr>
          <p:txBody>
            <a:bodyPr anchor="ctr" rtlCol="false" tIns="50800" lIns="50800" bIns="50800" rIns="50800"/>
            <a:lstStyle/>
            <a:p>
              <a:pPr algn="ctr">
                <a:lnSpc>
                  <a:spcPts val="1967"/>
                </a:lnSpc>
              </a:pPr>
            </a:p>
          </p:txBody>
        </p:sp>
      </p:grpSp>
      <p:sp>
        <p:nvSpPr>
          <p:cNvPr name="Freeform 8" id="8"/>
          <p:cNvSpPr/>
          <p:nvPr/>
        </p:nvSpPr>
        <p:spPr>
          <a:xfrm flipH="false" flipV="false" rot="0">
            <a:off x="13049637" y="1226666"/>
            <a:ext cx="376881" cy="376881"/>
          </a:xfrm>
          <a:custGeom>
            <a:avLst/>
            <a:gdLst/>
            <a:ahLst/>
            <a:cxnLst/>
            <a:rect r="r" b="b" t="t" l="l"/>
            <a:pathLst>
              <a:path h="376881" w="376881">
                <a:moveTo>
                  <a:pt x="0" y="0"/>
                </a:moveTo>
                <a:lnTo>
                  <a:pt x="376882" y="0"/>
                </a:lnTo>
                <a:lnTo>
                  <a:pt x="376882" y="376881"/>
                </a:lnTo>
                <a:lnTo>
                  <a:pt x="0" y="3768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28700" y="7382718"/>
            <a:ext cx="1935403" cy="1875582"/>
          </a:xfrm>
          <a:custGeom>
            <a:avLst/>
            <a:gdLst/>
            <a:ahLst/>
            <a:cxnLst/>
            <a:rect r="r" b="b" t="t" l="l"/>
            <a:pathLst>
              <a:path h="1875582" w="1935403">
                <a:moveTo>
                  <a:pt x="0" y="0"/>
                </a:moveTo>
                <a:lnTo>
                  <a:pt x="1935403" y="0"/>
                </a:lnTo>
                <a:lnTo>
                  <a:pt x="1935403" y="1875582"/>
                </a:lnTo>
                <a:lnTo>
                  <a:pt x="0" y="18755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1080701"/>
            <a:ext cx="10689823" cy="2248405"/>
          </a:xfrm>
          <a:prstGeom prst="rect">
            <a:avLst/>
          </a:prstGeom>
        </p:spPr>
        <p:txBody>
          <a:bodyPr anchor="t" rtlCol="false" tIns="0" lIns="0" bIns="0" rIns="0">
            <a:spAutoFit/>
          </a:bodyPr>
          <a:lstStyle/>
          <a:p>
            <a:pPr algn="l">
              <a:lnSpc>
                <a:spcPts val="8475"/>
              </a:lnSpc>
            </a:pPr>
            <a:r>
              <a:rPr lang="en-US" sz="9855" spc="-689">
                <a:solidFill>
                  <a:srgbClr val="2A245E"/>
                </a:solidFill>
                <a:latin typeface="TT Firs Neue"/>
                <a:ea typeface="TT Firs Neue"/>
                <a:cs typeface="TT Firs Neue"/>
                <a:sym typeface="TT Firs Neue"/>
              </a:rPr>
              <a:t>DESCRIPCIÓN DEL PROBLEMA</a:t>
            </a:r>
          </a:p>
        </p:txBody>
      </p:sp>
      <p:sp>
        <p:nvSpPr>
          <p:cNvPr name="TextBox 11" id="11"/>
          <p:cNvSpPr txBox="true"/>
          <p:nvPr/>
        </p:nvSpPr>
        <p:spPr>
          <a:xfrm rot="0">
            <a:off x="13953676" y="1184887"/>
            <a:ext cx="2451914" cy="527113"/>
          </a:xfrm>
          <a:prstGeom prst="rect">
            <a:avLst/>
          </a:prstGeom>
        </p:spPr>
        <p:txBody>
          <a:bodyPr anchor="t" rtlCol="false" tIns="0" lIns="0" bIns="0" rIns="0">
            <a:spAutoFit/>
          </a:bodyPr>
          <a:lstStyle/>
          <a:p>
            <a:pPr algn="ctr">
              <a:lnSpc>
                <a:spcPts val="1967"/>
              </a:lnSpc>
            </a:pPr>
            <a:r>
              <a:rPr lang="en-US" sz="2288" spc="-160">
                <a:solidFill>
                  <a:srgbClr val="2A245E"/>
                </a:solidFill>
                <a:latin typeface="TT Firs Neue"/>
                <a:ea typeface="TT Firs Neue"/>
                <a:cs typeface="TT Firs Neue"/>
                <a:sym typeface="TT Firs Neue"/>
              </a:rPr>
              <a:t>VISION POR COMPUTADORA II</a:t>
            </a:r>
          </a:p>
        </p:txBody>
      </p:sp>
      <p:sp>
        <p:nvSpPr>
          <p:cNvPr name="TextBox 12" id="12"/>
          <p:cNvSpPr txBox="true"/>
          <p:nvPr/>
        </p:nvSpPr>
        <p:spPr>
          <a:xfrm rot="0">
            <a:off x="12861197" y="2876807"/>
            <a:ext cx="4398103" cy="1931035"/>
          </a:xfrm>
          <a:prstGeom prst="rect">
            <a:avLst/>
          </a:prstGeom>
        </p:spPr>
        <p:txBody>
          <a:bodyPr anchor="t" rtlCol="false" tIns="0" lIns="0" bIns="0" rIns="0">
            <a:spAutoFit/>
          </a:bodyPr>
          <a:lstStyle/>
          <a:p>
            <a:pPr algn="l">
              <a:lnSpc>
                <a:spcPts val="2210"/>
              </a:lnSpc>
            </a:pPr>
            <a:r>
              <a:rPr lang="en-US" sz="1700" spc="-85">
                <a:solidFill>
                  <a:srgbClr val="2A245E"/>
                </a:solidFill>
                <a:latin typeface="TT Firs Neue"/>
                <a:ea typeface="TT Firs Neue"/>
                <a:cs typeface="TT Firs Neue"/>
                <a:sym typeface="TT Firs Neue"/>
              </a:rPr>
              <a:t>SE PLANTEA UN PROBLEMA DE DETECCIÓN DE ANOMALÍAS EN ESCANEOS DE EQUIPAJE POR RAYOS X PARA AEROPUERTOS. EL MODELO IDENTIFICA 5 OBJETOS POTENCIALMENTE PELIGROSOS: PISTOLA, CUCHILLO, ALICATES, TIJERAS Y LLAVE INGLESA.</a:t>
            </a:r>
          </a:p>
        </p:txBody>
      </p:sp>
      <p:sp>
        <p:nvSpPr>
          <p:cNvPr name="TextBox 13" id="13"/>
          <p:cNvSpPr txBox="true"/>
          <p:nvPr/>
        </p:nvSpPr>
        <p:spPr>
          <a:xfrm rot="0">
            <a:off x="12861197" y="5175458"/>
            <a:ext cx="4398103" cy="1102360"/>
          </a:xfrm>
          <a:prstGeom prst="rect">
            <a:avLst/>
          </a:prstGeom>
        </p:spPr>
        <p:txBody>
          <a:bodyPr anchor="t" rtlCol="false" tIns="0" lIns="0" bIns="0" rIns="0">
            <a:spAutoFit/>
          </a:bodyPr>
          <a:lstStyle/>
          <a:p>
            <a:pPr algn="l">
              <a:lnSpc>
                <a:spcPts val="2210"/>
              </a:lnSpc>
            </a:pPr>
            <a:r>
              <a:rPr lang="en-US" sz="1700" spc="-85">
                <a:solidFill>
                  <a:srgbClr val="2A245E"/>
                </a:solidFill>
                <a:latin typeface="TT Firs Neue"/>
                <a:ea typeface="TT Firs Neue"/>
                <a:cs typeface="TT Firs Neue"/>
                <a:sym typeface="TT Firs Neue"/>
              </a:rPr>
              <a:t>DATASET: HTTPS://WWW.KAGGLE.COM/DATASETS/ORVILE/X-RAY-BAGGAGE-ANOMALY-DETECTION/DATA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grpSp>
        <p:nvGrpSpPr>
          <p:cNvPr name="Group 2" id="2"/>
          <p:cNvGrpSpPr/>
          <p:nvPr/>
        </p:nvGrpSpPr>
        <p:grpSpPr>
          <a:xfrm rot="0">
            <a:off x="13729259" y="1028700"/>
            <a:ext cx="2900749" cy="753762"/>
            <a:chOff x="0" y="0"/>
            <a:chExt cx="763983" cy="198522"/>
          </a:xfrm>
        </p:grpSpPr>
        <p:sp>
          <p:nvSpPr>
            <p:cNvPr name="Freeform 3" id="3"/>
            <p:cNvSpPr/>
            <p:nvPr/>
          </p:nvSpPr>
          <p:spPr>
            <a:xfrm flipH="false" flipV="false" rot="0">
              <a:off x="0" y="0"/>
              <a:ext cx="763983" cy="198522"/>
            </a:xfrm>
            <a:custGeom>
              <a:avLst/>
              <a:gdLst/>
              <a:ahLst/>
              <a:cxnLst/>
              <a:rect r="r" b="b" t="t" l="l"/>
              <a:pathLst>
                <a:path h="198522" w="763983">
                  <a:moveTo>
                    <a:pt x="99261" y="0"/>
                  </a:moveTo>
                  <a:lnTo>
                    <a:pt x="664722" y="0"/>
                  </a:lnTo>
                  <a:cubicBezTo>
                    <a:pt x="719543" y="0"/>
                    <a:pt x="763983" y="44441"/>
                    <a:pt x="763983" y="99261"/>
                  </a:cubicBezTo>
                  <a:lnTo>
                    <a:pt x="763983" y="99261"/>
                  </a:lnTo>
                  <a:cubicBezTo>
                    <a:pt x="763983" y="154081"/>
                    <a:pt x="719543" y="198522"/>
                    <a:pt x="664722" y="198522"/>
                  </a:cubicBezTo>
                  <a:lnTo>
                    <a:pt x="99261" y="198522"/>
                  </a:lnTo>
                  <a:cubicBezTo>
                    <a:pt x="44441" y="198522"/>
                    <a:pt x="0" y="154081"/>
                    <a:pt x="0" y="99261"/>
                  </a:cubicBezTo>
                  <a:lnTo>
                    <a:pt x="0" y="99261"/>
                  </a:lnTo>
                  <a:cubicBezTo>
                    <a:pt x="0" y="44441"/>
                    <a:pt x="44441" y="0"/>
                    <a:pt x="99261" y="0"/>
                  </a:cubicBezTo>
                  <a:close/>
                </a:path>
              </a:pathLst>
            </a:custGeom>
            <a:solidFill>
              <a:srgbClr val="F3D339"/>
            </a:solidFill>
          </p:spPr>
        </p:sp>
        <p:sp>
          <p:nvSpPr>
            <p:cNvPr name="TextBox 4" id="4"/>
            <p:cNvSpPr txBox="true"/>
            <p:nvPr/>
          </p:nvSpPr>
          <p:spPr>
            <a:xfrm>
              <a:off x="0" y="-38100"/>
              <a:ext cx="763983" cy="2366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861197" y="1028700"/>
            <a:ext cx="753762" cy="75376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C1C2"/>
            </a:solidFill>
          </p:spPr>
        </p:sp>
        <p:sp>
          <p:nvSpPr>
            <p:cNvPr name="TextBox 7" id="7"/>
            <p:cNvSpPr txBox="true"/>
            <p:nvPr/>
          </p:nvSpPr>
          <p:spPr>
            <a:xfrm>
              <a:off x="76200" y="142875"/>
              <a:ext cx="660400" cy="593725"/>
            </a:xfrm>
            <a:prstGeom prst="rect">
              <a:avLst/>
            </a:prstGeom>
          </p:spPr>
          <p:txBody>
            <a:bodyPr anchor="ctr" rtlCol="false" tIns="50800" lIns="50800" bIns="50800" rIns="50800"/>
            <a:lstStyle/>
            <a:p>
              <a:pPr algn="ctr">
                <a:lnSpc>
                  <a:spcPts val="1967"/>
                </a:lnSpc>
              </a:pPr>
            </a:p>
          </p:txBody>
        </p:sp>
      </p:grpSp>
      <p:sp>
        <p:nvSpPr>
          <p:cNvPr name="Freeform 8" id="8"/>
          <p:cNvSpPr/>
          <p:nvPr/>
        </p:nvSpPr>
        <p:spPr>
          <a:xfrm flipH="false" flipV="false" rot="0">
            <a:off x="13049637" y="1226666"/>
            <a:ext cx="376881" cy="376881"/>
          </a:xfrm>
          <a:custGeom>
            <a:avLst/>
            <a:gdLst/>
            <a:ahLst/>
            <a:cxnLst/>
            <a:rect r="r" b="b" t="t" l="l"/>
            <a:pathLst>
              <a:path h="376881" w="376881">
                <a:moveTo>
                  <a:pt x="0" y="0"/>
                </a:moveTo>
                <a:lnTo>
                  <a:pt x="376882" y="0"/>
                </a:lnTo>
                <a:lnTo>
                  <a:pt x="376882" y="376881"/>
                </a:lnTo>
                <a:lnTo>
                  <a:pt x="0" y="3768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504825" y="989499"/>
            <a:ext cx="11832497" cy="1175064"/>
          </a:xfrm>
          <a:prstGeom prst="rect">
            <a:avLst/>
          </a:prstGeom>
        </p:spPr>
        <p:txBody>
          <a:bodyPr anchor="t" rtlCol="false" tIns="0" lIns="0" bIns="0" rIns="0">
            <a:spAutoFit/>
          </a:bodyPr>
          <a:lstStyle/>
          <a:p>
            <a:pPr algn="l">
              <a:lnSpc>
                <a:spcPts val="8475"/>
              </a:lnSpc>
            </a:pPr>
            <a:r>
              <a:rPr lang="en-US" sz="9855" spc="-689">
                <a:solidFill>
                  <a:srgbClr val="2A245E"/>
                </a:solidFill>
                <a:latin typeface="TT Firs Neue"/>
                <a:ea typeface="TT Firs Neue"/>
                <a:cs typeface="TT Firs Neue"/>
                <a:sym typeface="TT Firs Neue"/>
              </a:rPr>
              <a:t>IMAGEN DE EJEMPLO</a:t>
            </a:r>
          </a:p>
        </p:txBody>
      </p:sp>
      <p:sp>
        <p:nvSpPr>
          <p:cNvPr name="TextBox 10" id="10"/>
          <p:cNvSpPr txBox="true"/>
          <p:nvPr/>
        </p:nvSpPr>
        <p:spPr>
          <a:xfrm rot="0">
            <a:off x="13953676" y="1184887"/>
            <a:ext cx="2451914" cy="527113"/>
          </a:xfrm>
          <a:prstGeom prst="rect">
            <a:avLst/>
          </a:prstGeom>
        </p:spPr>
        <p:txBody>
          <a:bodyPr anchor="t" rtlCol="false" tIns="0" lIns="0" bIns="0" rIns="0">
            <a:spAutoFit/>
          </a:bodyPr>
          <a:lstStyle/>
          <a:p>
            <a:pPr algn="ctr">
              <a:lnSpc>
                <a:spcPts val="1967"/>
              </a:lnSpc>
            </a:pPr>
            <a:r>
              <a:rPr lang="en-US" sz="2288" spc="-160">
                <a:solidFill>
                  <a:srgbClr val="2A245E"/>
                </a:solidFill>
                <a:latin typeface="TT Firs Neue"/>
                <a:ea typeface="TT Firs Neue"/>
                <a:cs typeface="TT Firs Neue"/>
                <a:sym typeface="TT Firs Neue"/>
              </a:rPr>
              <a:t>VISION POR COMPUTADORA II</a:t>
            </a:r>
          </a:p>
        </p:txBody>
      </p:sp>
      <p:sp>
        <p:nvSpPr>
          <p:cNvPr name="Freeform 11" id="11"/>
          <p:cNvSpPr/>
          <p:nvPr/>
        </p:nvSpPr>
        <p:spPr>
          <a:xfrm flipH="false" flipV="false" rot="0">
            <a:off x="853636" y="2164563"/>
            <a:ext cx="11134876" cy="7953844"/>
          </a:xfrm>
          <a:custGeom>
            <a:avLst/>
            <a:gdLst/>
            <a:ahLst/>
            <a:cxnLst/>
            <a:rect r="r" b="b" t="t" l="l"/>
            <a:pathLst>
              <a:path h="7953844" w="11134876">
                <a:moveTo>
                  <a:pt x="0" y="0"/>
                </a:moveTo>
                <a:lnTo>
                  <a:pt x="11134875" y="0"/>
                </a:lnTo>
                <a:lnTo>
                  <a:pt x="11134875" y="7953844"/>
                </a:lnTo>
                <a:lnTo>
                  <a:pt x="0" y="7953844"/>
                </a:lnTo>
                <a:lnTo>
                  <a:pt x="0" y="0"/>
                </a:lnTo>
                <a:close/>
              </a:path>
            </a:pathLst>
          </a:custGeom>
          <a:blipFill>
            <a:blip r:embed="rId4"/>
            <a:stretch>
              <a:fillRect l="0" t="-25513" r="-7658" b="-25513"/>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132830"/>
            <a:ext cx="7035649" cy="3937381"/>
          </a:xfrm>
          <a:custGeom>
            <a:avLst/>
            <a:gdLst/>
            <a:ahLst/>
            <a:cxnLst/>
            <a:rect r="r" b="b" t="t" l="l"/>
            <a:pathLst>
              <a:path h="3937381" w="7035649">
                <a:moveTo>
                  <a:pt x="0" y="0"/>
                </a:moveTo>
                <a:lnTo>
                  <a:pt x="7035649" y="0"/>
                </a:lnTo>
                <a:lnTo>
                  <a:pt x="7035649" y="3937381"/>
                </a:lnTo>
                <a:lnTo>
                  <a:pt x="0" y="3937381"/>
                </a:lnTo>
                <a:lnTo>
                  <a:pt x="0" y="0"/>
                </a:lnTo>
                <a:close/>
              </a:path>
            </a:pathLst>
          </a:custGeom>
          <a:blipFill>
            <a:blip r:embed="rId2"/>
            <a:stretch>
              <a:fillRect l="0" t="0" r="0" b="0"/>
            </a:stretch>
          </a:blipFill>
        </p:spPr>
      </p:sp>
      <p:sp>
        <p:nvSpPr>
          <p:cNvPr name="TextBox 3" id="3"/>
          <p:cNvSpPr txBox="true"/>
          <p:nvPr/>
        </p:nvSpPr>
        <p:spPr>
          <a:xfrm rot="0">
            <a:off x="994222" y="1108075"/>
            <a:ext cx="8149778" cy="3046095"/>
          </a:xfrm>
          <a:prstGeom prst="rect">
            <a:avLst/>
          </a:prstGeom>
        </p:spPr>
        <p:txBody>
          <a:bodyPr anchor="t" rtlCol="false" tIns="0" lIns="0" bIns="0" rIns="0">
            <a:spAutoFit/>
          </a:bodyPr>
          <a:lstStyle/>
          <a:p>
            <a:pPr algn="l">
              <a:lnSpc>
                <a:spcPts val="7740"/>
              </a:lnSpc>
            </a:pPr>
            <a:r>
              <a:rPr lang="en-US" sz="9000" spc="-630">
                <a:solidFill>
                  <a:srgbClr val="2A245E"/>
                </a:solidFill>
                <a:latin typeface="TT Firs Neue"/>
                <a:ea typeface="TT Firs Neue"/>
                <a:cs typeface="TT Firs Neue"/>
                <a:sym typeface="TT Firs Neue"/>
              </a:rPr>
              <a:t>ANALISIS EXPLORATORIO DE DATOS</a:t>
            </a:r>
          </a:p>
        </p:txBody>
      </p:sp>
      <p:sp>
        <p:nvSpPr>
          <p:cNvPr name="TextBox 4" id="4"/>
          <p:cNvSpPr txBox="true"/>
          <p:nvPr/>
        </p:nvSpPr>
        <p:spPr>
          <a:xfrm rot="0">
            <a:off x="1028700" y="4306570"/>
            <a:ext cx="8321373" cy="1654810"/>
          </a:xfrm>
          <a:prstGeom prst="rect">
            <a:avLst/>
          </a:prstGeom>
        </p:spPr>
        <p:txBody>
          <a:bodyPr anchor="t" rtlCol="false" tIns="0" lIns="0" bIns="0" rIns="0">
            <a:spAutoFit/>
          </a:bodyPr>
          <a:lstStyle/>
          <a:p>
            <a:pPr algn="l">
              <a:lnSpc>
                <a:spcPts val="2210"/>
              </a:lnSpc>
            </a:pPr>
            <a:r>
              <a:rPr lang="en-US" sz="1700" spc="-85">
                <a:solidFill>
                  <a:srgbClr val="2A245E"/>
                </a:solidFill>
                <a:latin typeface="TT Firs Neue"/>
                <a:ea typeface="TT Firs Neue"/>
                <a:cs typeface="TT Firs Neue"/>
                <a:sym typeface="TT Firs Neue"/>
              </a:rPr>
              <a:t>HICIMOS UN ANALISIS EXPLORATORIO DE LAS IMAGEN DE NUESTRO DATASET PARA TRATAR DE DETECTAR PATRONES O ANOMALIAS EN NUESTRO CONJUNTO DE DATOS.</a:t>
            </a:r>
          </a:p>
          <a:p>
            <a:pPr algn="l">
              <a:lnSpc>
                <a:spcPts val="2210"/>
              </a:lnSpc>
            </a:pPr>
            <a:r>
              <a:rPr lang="en-US" sz="1700" spc="-85">
                <a:solidFill>
                  <a:srgbClr val="2A245E"/>
                </a:solidFill>
                <a:latin typeface="TT Firs Neue"/>
                <a:ea typeface="TT Firs Neue"/>
                <a:cs typeface="TT Firs Neue"/>
                <a:sym typeface="TT Firs Neue"/>
              </a:rPr>
              <a:t>COMO PRIMER PASO ANALIZAMOS LA DISTRIBUCION DE LAS CLASES Y PUDIMOS OBSERVAR QUE NUESTRO DATASET ESTA LIGERAMENTE DESBALANCEADO RESPECTO A UNA DE NUESTRAS CLASES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822627" y="2483415"/>
            <a:ext cx="6569929" cy="3588823"/>
          </a:xfrm>
          <a:custGeom>
            <a:avLst/>
            <a:gdLst/>
            <a:ahLst/>
            <a:cxnLst/>
            <a:rect r="r" b="b" t="t" l="l"/>
            <a:pathLst>
              <a:path h="3588823" w="6569929">
                <a:moveTo>
                  <a:pt x="0" y="0"/>
                </a:moveTo>
                <a:lnTo>
                  <a:pt x="6569928" y="0"/>
                </a:lnTo>
                <a:lnTo>
                  <a:pt x="6569928" y="3588824"/>
                </a:lnTo>
                <a:lnTo>
                  <a:pt x="0" y="3588824"/>
                </a:lnTo>
                <a:lnTo>
                  <a:pt x="0" y="0"/>
                </a:lnTo>
                <a:close/>
              </a:path>
            </a:pathLst>
          </a:custGeom>
          <a:blipFill>
            <a:blip r:embed="rId2"/>
            <a:stretch>
              <a:fillRect l="0" t="0" r="0" b="0"/>
            </a:stretch>
          </a:blipFill>
        </p:spPr>
      </p:sp>
      <p:sp>
        <p:nvSpPr>
          <p:cNvPr name="Freeform 3" id="3"/>
          <p:cNvSpPr/>
          <p:nvPr/>
        </p:nvSpPr>
        <p:spPr>
          <a:xfrm flipH="false" flipV="false" rot="0">
            <a:off x="822627" y="6364456"/>
            <a:ext cx="6569929" cy="3654523"/>
          </a:xfrm>
          <a:custGeom>
            <a:avLst/>
            <a:gdLst/>
            <a:ahLst/>
            <a:cxnLst/>
            <a:rect r="r" b="b" t="t" l="l"/>
            <a:pathLst>
              <a:path h="3654523" w="6569929">
                <a:moveTo>
                  <a:pt x="0" y="0"/>
                </a:moveTo>
                <a:lnTo>
                  <a:pt x="6569928" y="0"/>
                </a:lnTo>
                <a:lnTo>
                  <a:pt x="6569928" y="3654523"/>
                </a:lnTo>
                <a:lnTo>
                  <a:pt x="0" y="3654523"/>
                </a:lnTo>
                <a:lnTo>
                  <a:pt x="0" y="0"/>
                </a:lnTo>
                <a:close/>
              </a:path>
            </a:pathLst>
          </a:custGeom>
          <a:blipFill>
            <a:blip r:embed="rId3"/>
            <a:stretch>
              <a:fillRect l="0" t="0" r="0" b="0"/>
            </a:stretch>
          </a:blipFill>
        </p:spPr>
      </p:sp>
      <p:sp>
        <p:nvSpPr>
          <p:cNvPr name="Freeform 4" id="4"/>
          <p:cNvSpPr/>
          <p:nvPr/>
        </p:nvSpPr>
        <p:spPr>
          <a:xfrm flipH="false" flipV="false" rot="0">
            <a:off x="7994912" y="3199613"/>
            <a:ext cx="10119878" cy="5553283"/>
          </a:xfrm>
          <a:custGeom>
            <a:avLst/>
            <a:gdLst/>
            <a:ahLst/>
            <a:cxnLst/>
            <a:rect r="r" b="b" t="t" l="l"/>
            <a:pathLst>
              <a:path h="5553283" w="10119878">
                <a:moveTo>
                  <a:pt x="0" y="0"/>
                </a:moveTo>
                <a:lnTo>
                  <a:pt x="10119878" y="0"/>
                </a:lnTo>
                <a:lnTo>
                  <a:pt x="10119878" y="5553282"/>
                </a:lnTo>
                <a:lnTo>
                  <a:pt x="0" y="5553282"/>
                </a:lnTo>
                <a:lnTo>
                  <a:pt x="0" y="0"/>
                </a:lnTo>
                <a:close/>
              </a:path>
            </a:pathLst>
          </a:custGeom>
          <a:blipFill>
            <a:blip r:embed="rId4"/>
            <a:stretch>
              <a:fillRect l="0" t="0" r="0" b="0"/>
            </a:stretch>
          </a:blipFill>
        </p:spPr>
      </p:sp>
      <p:sp>
        <p:nvSpPr>
          <p:cNvPr name="TextBox 5" id="5"/>
          <p:cNvSpPr txBox="true"/>
          <p:nvPr/>
        </p:nvSpPr>
        <p:spPr>
          <a:xfrm rot="0">
            <a:off x="832365" y="663762"/>
            <a:ext cx="16623271" cy="996577"/>
          </a:xfrm>
          <a:prstGeom prst="rect">
            <a:avLst/>
          </a:prstGeom>
        </p:spPr>
        <p:txBody>
          <a:bodyPr anchor="t" rtlCol="false" tIns="0" lIns="0" bIns="0" rIns="0">
            <a:spAutoFit/>
          </a:bodyPr>
          <a:lstStyle/>
          <a:p>
            <a:pPr algn="l">
              <a:lnSpc>
                <a:spcPts val="7138"/>
              </a:lnSpc>
            </a:pPr>
            <a:r>
              <a:rPr lang="en-US" sz="8300" spc="-581">
                <a:solidFill>
                  <a:srgbClr val="2A245E"/>
                </a:solidFill>
                <a:latin typeface="TT Firs Neue"/>
                <a:ea typeface="TT Firs Neue"/>
                <a:cs typeface="TT Firs Neue"/>
                <a:sym typeface="TT Firs Neue"/>
              </a:rPr>
              <a:t>ANALISIS EXPLORATORIO DE DATOS</a:t>
            </a:r>
          </a:p>
        </p:txBody>
      </p:sp>
      <p:sp>
        <p:nvSpPr>
          <p:cNvPr name="TextBox 6" id="6"/>
          <p:cNvSpPr txBox="true"/>
          <p:nvPr/>
        </p:nvSpPr>
        <p:spPr>
          <a:xfrm rot="0">
            <a:off x="822627" y="1641288"/>
            <a:ext cx="12783539" cy="549910"/>
          </a:xfrm>
          <a:prstGeom prst="rect">
            <a:avLst/>
          </a:prstGeom>
        </p:spPr>
        <p:txBody>
          <a:bodyPr anchor="t" rtlCol="false" tIns="0" lIns="0" bIns="0" rIns="0">
            <a:spAutoFit/>
          </a:bodyPr>
          <a:lstStyle/>
          <a:p>
            <a:pPr algn="l">
              <a:lnSpc>
                <a:spcPts val="2210"/>
              </a:lnSpc>
            </a:pPr>
            <a:r>
              <a:rPr lang="en-US" sz="1700" spc="-85">
                <a:solidFill>
                  <a:srgbClr val="2A245E"/>
                </a:solidFill>
                <a:latin typeface="TT Firs Neue"/>
                <a:ea typeface="TT Firs Neue"/>
                <a:cs typeface="TT Firs Neue"/>
                <a:sym typeface="TT Firs Neue"/>
              </a:rPr>
              <a:t>LUEGO PROCEDIMOS A ANALIZAR LA DISTRIBUCION DE LOS BOUNDING BOXES DE NUESTRAS CLASES PARA TRATAR DE INTERPRETAR SI ESTAMOS TRABAJANDO CON IBOUNDING BOXES CUADRADAS O RECTANGULARES.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832365" y="3869924"/>
            <a:ext cx="8311635" cy="4602568"/>
          </a:xfrm>
          <a:custGeom>
            <a:avLst/>
            <a:gdLst/>
            <a:ahLst/>
            <a:cxnLst/>
            <a:rect r="r" b="b" t="t" l="l"/>
            <a:pathLst>
              <a:path h="4602568" w="8311635">
                <a:moveTo>
                  <a:pt x="0" y="0"/>
                </a:moveTo>
                <a:lnTo>
                  <a:pt x="8311635" y="0"/>
                </a:lnTo>
                <a:lnTo>
                  <a:pt x="8311635" y="4602568"/>
                </a:lnTo>
                <a:lnTo>
                  <a:pt x="0" y="4602568"/>
                </a:lnTo>
                <a:lnTo>
                  <a:pt x="0" y="0"/>
                </a:lnTo>
                <a:close/>
              </a:path>
            </a:pathLst>
          </a:custGeom>
          <a:blipFill>
            <a:blip r:embed="rId2"/>
            <a:stretch>
              <a:fillRect l="0" t="0" r="0" b="0"/>
            </a:stretch>
          </a:blipFill>
        </p:spPr>
      </p:sp>
      <p:sp>
        <p:nvSpPr>
          <p:cNvPr name="Freeform 3" id="3"/>
          <p:cNvSpPr/>
          <p:nvPr/>
        </p:nvSpPr>
        <p:spPr>
          <a:xfrm flipH="false" flipV="false" rot="0">
            <a:off x="9144000" y="3869924"/>
            <a:ext cx="8311635" cy="4602568"/>
          </a:xfrm>
          <a:custGeom>
            <a:avLst/>
            <a:gdLst/>
            <a:ahLst/>
            <a:cxnLst/>
            <a:rect r="r" b="b" t="t" l="l"/>
            <a:pathLst>
              <a:path h="4602568" w="8311635">
                <a:moveTo>
                  <a:pt x="0" y="0"/>
                </a:moveTo>
                <a:lnTo>
                  <a:pt x="8311635" y="0"/>
                </a:lnTo>
                <a:lnTo>
                  <a:pt x="8311635" y="4602568"/>
                </a:lnTo>
                <a:lnTo>
                  <a:pt x="0" y="4602568"/>
                </a:lnTo>
                <a:lnTo>
                  <a:pt x="0" y="0"/>
                </a:lnTo>
                <a:close/>
              </a:path>
            </a:pathLst>
          </a:custGeom>
          <a:blipFill>
            <a:blip r:embed="rId3"/>
            <a:stretch>
              <a:fillRect l="0" t="0" r="0" b="0"/>
            </a:stretch>
          </a:blipFill>
        </p:spPr>
      </p:sp>
      <p:sp>
        <p:nvSpPr>
          <p:cNvPr name="TextBox 4" id="4"/>
          <p:cNvSpPr txBox="true"/>
          <p:nvPr/>
        </p:nvSpPr>
        <p:spPr>
          <a:xfrm rot="0">
            <a:off x="832365" y="484401"/>
            <a:ext cx="16623271" cy="992440"/>
          </a:xfrm>
          <a:prstGeom prst="rect">
            <a:avLst/>
          </a:prstGeom>
        </p:spPr>
        <p:txBody>
          <a:bodyPr anchor="t" rtlCol="false" tIns="0" lIns="0" bIns="0" rIns="0">
            <a:spAutoFit/>
          </a:bodyPr>
          <a:lstStyle/>
          <a:p>
            <a:pPr algn="l">
              <a:lnSpc>
                <a:spcPts val="7137"/>
              </a:lnSpc>
            </a:pPr>
            <a:r>
              <a:rPr lang="en-US" sz="8299" spc="-580">
                <a:solidFill>
                  <a:srgbClr val="2A245E"/>
                </a:solidFill>
                <a:latin typeface="TT Firs Neue"/>
                <a:ea typeface="TT Firs Neue"/>
                <a:cs typeface="TT Firs Neue"/>
                <a:sym typeface="TT Firs Neue"/>
              </a:rPr>
              <a:t>ANALISIS EXPLORATORIO DE DATOS</a:t>
            </a:r>
          </a:p>
        </p:txBody>
      </p:sp>
      <p:sp>
        <p:nvSpPr>
          <p:cNvPr name="TextBox 5" id="5"/>
          <p:cNvSpPr txBox="true"/>
          <p:nvPr/>
        </p:nvSpPr>
        <p:spPr>
          <a:xfrm rot="0">
            <a:off x="3662650" y="2112678"/>
            <a:ext cx="10962699" cy="1102360"/>
          </a:xfrm>
          <a:prstGeom prst="rect">
            <a:avLst/>
          </a:prstGeom>
        </p:spPr>
        <p:txBody>
          <a:bodyPr anchor="t" rtlCol="false" tIns="0" lIns="0" bIns="0" rIns="0">
            <a:spAutoFit/>
          </a:bodyPr>
          <a:lstStyle/>
          <a:p>
            <a:pPr algn="l">
              <a:lnSpc>
                <a:spcPts val="2210"/>
              </a:lnSpc>
            </a:pPr>
            <a:r>
              <a:rPr lang="en-US" sz="1700" spc="-85">
                <a:solidFill>
                  <a:srgbClr val="2A245E"/>
                </a:solidFill>
                <a:latin typeface="TT Firs Neue"/>
                <a:ea typeface="TT Firs Neue"/>
                <a:cs typeface="TT Firs Neue"/>
                <a:sym typeface="TT Firs Neue"/>
              </a:rPr>
              <a:t>LA DISTRIBUCIÓN DE LA MEDIA DE PÍXELES MUESTRA DOS PICOS, LO QUE PODRÍA INDICAR DIFERENTES CONDICIONES DE ILUMINACIÓN O TIPOS DE CONTENIDO EN LAS IMÁGENES. LA DESVIACIÓN ESTÁNDAR DE LOS PÍXELES SUGIERE UNA VARIABILIDAD MODERADA EN EL CONTRASTE</a:t>
            </a:r>
          </a:p>
          <a:p>
            <a:pPr algn="l">
              <a:lnSpc>
                <a:spcPts val="221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2210538"/>
            <a:ext cx="11301259" cy="3715289"/>
          </a:xfrm>
          <a:custGeom>
            <a:avLst/>
            <a:gdLst/>
            <a:ahLst/>
            <a:cxnLst/>
            <a:rect r="r" b="b" t="t" l="l"/>
            <a:pathLst>
              <a:path h="3715289" w="11301259">
                <a:moveTo>
                  <a:pt x="0" y="0"/>
                </a:moveTo>
                <a:lnTo>
                  <a:pt x="11301258" y="0"/>
                </a:lnTo>
                <a:lnTo>
                  <a:pt x="11301258" y="3715289"/>
                </a:lnTo>
                <a:lnTo>
                  <a:pt x="0" y="3715289"/>
                </a:lnTo>
                <a:lnTo>
                  <a:pt x="0" y="0"/>
                </a:lnTo>
                <a:close/>
              </a:path>
            </a:pathLst>
          </a:custGeom>
          <a:blipFill>
            <a:blip r:embed="rId2"/>
            <a:stretch>
              <a:fillRect l="0" t="0" r="0" b="0"/>
            </a:stretch>
          </a:blipFill>
        </p:spPr>
      </p:sp>
      <p:sp>
        <p:nvSpPr>
          <p:cNvPr name="TextBox 3" id="3"/>
          <p:cNvSpPr txBox="true"/>
          <p:nvPr/>
        </p:nvSpPr>
        <p:spPr>
          <a:xfrm rot="0">
            <a:off x="832365" y="484401"/>
            <a:ext cx="16623271" cy="992440"/>
          </a:xfrm>
          <a:prstGeom prst="rect">
            <a:avLst/>
          </a:prstGeom>
        </p:spPr>
        <p:txBody>
          <a:bodyPr anchor="t" rtlCol="false" tIns="0" lIns="0" bIns="0" rIns="0">
            <a:spAutoFit/>
          </a:bodyPr>
          <a:lstStyle/>
          <a:p>
            <a:pPr algn="l">
              <a:lnSpc>
                <a:spcPts val="7137"/>
              </a:lnSpc>
            </a:pPr>
            <a:r>
              <a:rPr lang="en-US" sz="8299" spc="-580">
                <a:solidFill>
                  <a:srgbClr val="2A245E"/>
                </a:solidFill>
                <a:latin typeface="TT Firs Neue"/>
                <a:ea typeface="TT Firs Neue"/>
                <a:cs typeface="TT Firs Neue"/>
                <a:sym typeface="TT Firs Neue"/>
              </a:rPr>
              <a:t>ANALISIS EXPLORATORIO DE DATOS</a:t>
            </a:r>
          </a:p>
        </p:txBody>
      </p:sp>
      <p:sp>
        <p:nvSpPr>
          <p:cNvPr name="TextBox 4" id="4"/>
          <p:cNvSpPr txBox="true"/>
          <p:nvPr/>
        </p:nvSpPr>
        <p:spPr>
          <a:xfrm rot="0">
            <a:off x="1649777" y="1410166"/>
            <a:ext cx="14988446" cy="614234"/>
          </a:xfrm>
          <a:prstGeom prst="rect">
            <a:avLst/>
          </a:prstGeom>
        </p:spPr>
        <p:txBody>
          <a:bodyPr anchor="t" rtlCol="false" tIns="0" lIns="0" bIns="0" rIns="0">
            <a:spAutoFit/>
          </a:bodyPr>
          <a:lstStyle/>
          <a:p>
            <a:pPr algn="ctr">
              <a:lnSpc>
                <a:spcPts val="5030"/>
              </a:lnSpc>
              <a:spcBef>
                <a:spcPct val="0"/>
              </a:spcBef>
            </a:pPr>
            <a:r>
              <a:rPr lang="en-US" sz="3592" spc="-251">
                <a:solidFill>
                  <a:srgbClr val="2A245E"/>
                </a:solidFill>
                <a:latin typeface="TT Firs Neue"/>
                <a:ea typeface="TT Firs Neue"/>
                <a:cs typeface="TT Firs Neue"/>
                <a:sym typeface="TT Firs Neue"/>
              </a:rPr>
              <a:t>ANÁLISIS DE LOS HISTOGRAMAS PARA EL ESPACIO DE COLOR POR CLASE</a:t>
            </a:r>
          </a:p>
        </p:txBody>
      </p:sp>
      <p:sp>
        <p:nvSpPr>
          <p:cNvPr name="Freeform 5" id="5"/>
          <p:cNvSpPr/>
          <p:nvPr/>
        </p:nvSpPr>
        <p:spPr>
          <a:xfrm flipH="false" flipV="false" rot="0">
            <a:off x="3493371" y="5925827"/>
            <a:ext cx="11301259" cy="3715289"/>
          </a:xfrm>
          <a:custGeom>
            <a:avLst/>
            <a:gdLst/>
            <a:ahLst/>
            <a:cxnLst/>
            <a:rect r="r" b="b" t="t" l="l"/>
            <a:pathLst>
              <a:path h="3715289" w="11301259">
                <a:moveTo>
                  <a:pt x="0" y="0"/>
                </a:moveTo>
                <a:lnTo>
                  <a:pt x="11301258" y="0"/>
                </a:lnTo>
                <a:lnTo>
                  <a:pt x="11301258" y="3715289"/>
                </a:lnTo>
                <a:lnTo>
                  <a:pt x="0" y="3715289"/>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2186712"/>
            <a:ext cx="11301259" cy="3715289"/>
          </a:xfrm>
          <a:custGeom>
            <a:avLst/>
            <a:gdLst/>
            <a:ahLst/>
            <a:cxnLst/>
            <a:rect r="r" b="b" t="t" l="l"/>
            <a:pathLst>
              <a:path h="3715289" w="11301259">
                <a:moveTo>
                  <a:pt x="0" y="0"/>
                </a:moveTo>
                <a:lnTo>
                  <a:pt x="11301258" y="0"/>
                </a:lnTo>
                <a:lnTo>
                  <a:pt x="11301258" y="3715289"/>
                </a:lnTo>
                <a:lnTo>
                  <a:pt x="0" y="3715289"/>
                </a:lnTo>
                <a:lnTo>
                  <a:pt x="0" y="0"/>
                </a:lnTo>
                <a:close/>
              </a:path>
            </a:pathLst>
          </a:custGeom>
          <a:blipFill>
            <a:blip r:embed="rId2"/>
            <a:stretch>
              <a:fillRect l="0" t="0" r="0" b="0"/>
            </a:stretch>
          </a:blipFill>
        </p:spPr>
      </p:sp>
      <p:sp>
        <p:nvSpPr>
          <p:cNvPr name="TextBox 3" id="3"/>
          <p:cNvSpPr txBox="true"/>
          <p:nvPr/>
        </p:nvSpPr>
        <p:spPr>
          <a:xfrm rot="0">
            <a:off x="832365" y="484401"/>
            <a:ext cx="16623271" cy="992440"/>
          </a:xfrm>
          <a:prstGeom prst="rect">
            <a:avLst/>
          </a:prstGeom>
        </p:spPr>
        <p:txBody>
          <a:bodyPr anchor="t" rtlCol="false" tIns="0" lIns="0" bIns="0" rIns="0">
            <a:spAutoFit/>
          </a:bodyPr>
          <a:lstStyle/>
          <a:p>
            <a:pPr algn="l">
              <a:lnSpc>
                <a:spcPts val="7137"/>
              </a:lnSpc>
            </a:pPr>
            <a:r>
              <a:rPr lang="en-US" sz="8299" spc="-580">
                <a:solidFill>
                  <a:srgbClr val="2A245E"/>
                </a:solidFill>
                <a:latin typeface="TT Firs Neue"/>
                <a:ea typeface="TT Firs Neue"/>
                <a:cs typeface="TT Firs Neue"/>
                <a:sym typeface="TT Firs Neue"/>
              </a:rPr>
              <a:t>ANALISIS EXPLORATORIO DE DATOS</a:t>
            </a:r>
          </a:p>
        </p:txBody>
      </p:sp>
      <p:sp>
        <p:nvSpPr>
          <p:cNvPr name="TextBox 4" id="4"/>
          <p:cNvSpPr txBox="true"/>
          <p:nvPr/>
        </p:nvSpPr>
        <p:spPr>
          <a:xfrm rot="0">
            <a:off x="1649777" y="1410166"/>
            <a:ext cx="14988446" cy="614234"/>
          </a:xfrm>
          <a:prstGeom prst="rect">
            <a:avLst/>
          </a:prstGeom>
        </p:spPr>
        <p:txBody>
          <a:bodyPr anchor="t" rtlCol="false" tIns="0" lIns="0" bIns="0" rIns="0">
            <a:spAutoFit/>
          </a:bodyPr>
          <a:lstStyle/>
          <a:p>
            <a:pPr algn="ctr">
              <a:lnSpc>
                <a:spcPts val="5030"/>
              </a:lnSpc>
              <a:spcBef>
                <a:spcPct val="0"/>
              </a:spcBef>
            </a:pPr>
            <a:r>
              <a:rPr lang="en-US" sz="3592" spc="-251">
                <a:solidFill>
                  <a:srgbClr val="2A245E"/>
                </a:solidFill>
                <a:latin typeface="TT Firs Neue"/>
                <a:ea typeface="TT Firs Neue"/>
                <a:cs typeface="TT Firs Neue"/>
                <a:sym typeface="TT Firs Neue"/>
              </a:rPr>
              <a:t>ANÁLISIS DE LOS HISTOGRAMAS PARA EL ESPACIO DE COLOR POR CLASE</a:t>
            </a:r>
          </a:p>
        </p:txBody>
      </p:sp>
      <p:sp>
        <p:nvSpPr>
          <p:cNvPr name="Freeform 5" id="5"/>
          <p:cNvSpPr/>
          <p:nvPr/>
        </p:nvSpPr>
        <p:spPr>
          <a:xfrm flipH="false" flipV="false" rot="0">
            <a:off x="3493371" y="5902001"/>
            <a:ext cx="11301259" cy="3715289"/>
          </a:xfrm>
          <a:custGeom>
            <a:avLst/>
            <a:gdLst/>
            <a:ahLst/>
            <a:cxnLst/>
            <a:rect r="r" b="b" t="t" l="l"/>
            <a:pathLst>
              <a:path h="3715289" w="11301259">
                <a:moveTo>
                  <a:pt x="0" y="0"/>
                </a:moveTo>
                <a:lnTo>
                  <a:pt x="11301258" y="0"/>
                </a:lnTo>
                <a:lnTo>
                  <a:pt x="11301258" y="3715289"/>
                </a:lnTo>
                <a:lnTo>
                  <a:pt x="0" y="3715289"/>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2216213"/>
            <a:ext cx="11301259" cy="3715289"/>
          </a:xfrm>
          <a:custGeom>
            <a:avLst/>
            <a:gdLst/>
            <a:ahLst/>
            <a:cxnLst/>
            <a:rect r="r" b="b" t="t" l="l"/>
            <a:pathLst>
              <a:path h="3715289" w="11301259">
                <a:moveTo>
                  <a:pt x="0" y="0"/>
                </a:moveTo>
                <a:lnTo>
                  <a:pt x="11301258" y="0"/>
                </a:lnTo>
                <a:lnTo>
                  <a:pt x="11301258" y="3715289"/>
                </a:lnTo>
                <a:lnTo>
                  <a:pt x="0" y="3715289"/>
                </a:lnTo>
                <a:lnTo>
                  <a:pt x="0" y="0"/>
                </a:lnTo>
                <a:close/>
              </a:path>
            </a:pathLst>
          </a:custGeom>
          <a:blipFill>
            <a:blip r:embed="rId2"/>
            <a:stretch>
              <a:fillRect l="0" t="0" r="0" b="0"/>
            </a:stretch>
          </a:blipFill>
        </p:spPr>
      </p:sp>
      <p:sp>
        <p:nvSpPr>
          <p:cNvPr name="TextBox 3" id="3"/>
          <p:cNvSpPr txBox="true"/>
          <p:nvPr/>
        </p:nvSpPr>
        <p:spPr>
          <a:xfrm rot="0">
            <a:off x="832365" y="484401"/>
            <a:ext cx="16623271" cy="992440"/>
          </a:xfrm>
          <a:prstGeom prst="rect">
            <a:avLst/>
          </a:prstGeom>
        </p:spPr>
        <p:txBody>
          <a:bodyPr anchor="t" rtlCol="false" tIns="0" lIns="0" bIns="0" rIns="0">
            <a:spAutoFit/>
          </a:bodyPr>
          <a:lstStyle/>
          <a:p>
            <a:pPr algn="l">
              <a:lnSpc>
                <a:spcPts val="7137"/>
              </a:lnSpc>
            </a:pPr>
            <a:r>
              <a:rPr lang="en-US" sz="8299" spc="-580">
                <a:solidFill>
                  <a:srgbClr val="2A245E"/>
                </a:solidFill>
                <a:latin typeface="TT Firs Neue"/>
                <a:ea typeface="TT Firs Neue"/>
                <a:cs typeface="TT Firs Neue"/>
                <a:sym typeface="TT Firs Neue"/>
              </a:rPr>
              <a:t>ANALISIS EXPLORATORIO DE DATOS</a:t>
            </a:r>
          </a:p>
        </p:txBody>
      </p:sp>
      <p:sp>
        <p:nvSpPr>
          <p:cNvPr name="TextBox 4" id="4"/>
          <p:cNvSpPr txBox="true"/>
          <p:nvPr/>
        </p:nvSpPr>
        <p:spPr>
          <a:xfrm rot="0">
            <a:off x="1649777" y="1410166"/>
            <a:ext cx="14988446" cy="614234"/>
          </a:xfrm>
          <a:prstGeom prst="rect">
            <a:avLst/>
          </a:prstGeom>
        </p:spPr>
        <p:txBody>
          <a:bodyPr anchor="t" rtlCol="false" tIns="0" lIns="0" bIns="0" rIns="0">
            <a:spAutoFit/>
          </a:bodyPr>
          <a:lstStyle/>
          <a:p>
            <a:pPr algn="ctr">
              <a:lnSpc>
                <a:spcPts val="5030"/>
              </a:lnSpc>
              <a:spcBef>
                <a:spcPct val="0"/>
              </a:spcBef>
            </a:pPr>
            <a:r>
              <a:rPr lang="en-US" sz="3592" spc="-251">
                <a:solidFill>
                  <a:srgbClr val="2A245E"/>
                </a:solidFill>
                <a:latin typeface="TT Firs Neue"/>
                <a:ea typeface="TT Firs Neue"/>
                <a:cs typeface="TT Firs Neue"/>
                <a:sym typeface="TT Firs Neue"/>
              </a:rPr>
              <a:t>ANÁLISIS DE LOS HISTOGRAMAS PARA EL ESPACIO DE COLOR POR CLASE</a:t>
            </a:r>
          </a:p>
        </p:txBody>
      </p:sp>
      <p:sp>
        <p:nvSpPr>
          <p:cNvPr name="TextBox 5" id="5"/>
          <p:cNvSpPr txBox="true"/>
          <p:nvPr/>
        </p:nvSpPr>
        <p:spPr>
          <a:xfrm rot="0">
            <a:off x="5245894" y="6325510"/>
            <a:ext cx="7796211" cy="273685"/>
          </a:xfrm>
          <a:prstGeom prst="rect">
            <a:avLst/>
          </a:prstGeom>
        </p:spPr>
        <p:txBody>
          <a:bodyPr anchor="t" rtlCol="false" tIns="0" lIns="0" bIns="0" rIns="0">
            <a:spAutoFit/>
          </a:bodyPr>
          <a:lstStyle/>
          <a:p>
            <a:pPr algn="l">
              <a:lnSpc>
                <a:spcPts val="2210"/>
              </a:lnSpc>
            </a:pPr>
          </a:p>
        </p:txBody>
      </p:sp>
      <p:sp>
        <p:nvSpPr>
          <p:cNvPr name="TextBox 6" id="6"/>
          <p:cNvSpPr txBox="true"/>
          <p:nvPr/>
        </p:nvSpPr>
        <p:spPr>
          <a:xfrm rot="0">
            <a:off x="3493371" y="6443303"/>
            <a:ext cx="11301259" cy="3200568"/>
          </a:xfrm>
          <a:prstGeom prst="rect">
            <a:avLst/>
          </a:prstGeom>
        </p:spPr>
        <p:txBody>
          <a:bodyPr anchor="t" rtlCol="false" tIns="0" lIns="0" bIns="0" rIns="0">
            <a:spAutoFit/>
          </a:bodyPr>
          <a:lstStyle/>
          <a:p>
            <a:pPr algn="l">
              <a:lnSpc>
                <a:spcPts val="3203"/>
              </a:lnSpc>
            </a:pPr>
            <a:r>
              <a:rPr lang="en-US" sz="2464" spc="-123">
                <a:solidFill>
                  <a:srgbClr val="2A245E"/>
                </a:solidFill>
                <a:latin typeface="TT Firs Neue"/>
                <a:ea typeface="TT Firs Neue"/>
                <a:cs typeface="TT Firs Neue"/>
                <a:sym typeface="TT Firs Neue"/>
              </a:rPr>
              <a:t>A SIMPLE VISTA LOS HISTOGRAMAS PARECEN BASTANTE SIMILARES, PERO HACIENDO UN ANÁLISIS MÁS MINUCIOSO SE DISTINGUE QUE PARA CADA CLASE HAY PATRONES ÚNICOS EN LA DISTRIBUCIÓN DE SUS COLORES EN ESPECIAL CUANDO SE OBSERVA LA FRECUENCIA (EJE Y). ESTO CONFIRMA QUE EXISTEN PATRONES DISCRIMINATORIOS EN LA REPRESENTACIÓN RGB QUE EL MODELO DE DETECCIÓN DE OBJETOS PUEDE EXPLOTAR PARA IDENTIFICAR Y CLASIFICAR LAS ANOMALÍAS.</a:t>
            </a:r>
          </a:p>
          <a:p>
            <a:pPr algn="l">
              <a:lnSpc>
                <a:spcPts val="3203"/>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1088571" y="3628571"/>
            <a:ext cx="9978571" cy="2177143"/>
          </a:xfrm>
          <a:custGeom>
            <a:avLst/>
            <a:gdLst/>
            <a:ahLst/>
            <a:cxnLst/>
            <a:rect r="r" b="b" t="t" l="l"/>
            <a:pathLst>
              <a:path h="2177143" w="9978571">
                <a:moveTo>
                  <a:pt x="0" y="0"/>
                </a:moveTo>
                <a:lnTo>
                  <a:pt x="9978572" y="0"/>
                </a:lnTo>
                <a:lnTo>
                  <a:pt x="9978572" y="2177143"/>
                </a:lnTo>
                <a:lnTo>
                  <a:pt x="0" y="2177143"/>
                </a:lnTo>
                <a:lnTo>
                  <a:pt x="0" y="0"/>
                </a:lnTo>
                <a:close/>
              </a:path>
            </a:pathLst>
          </a:custGeom>
          <a:blipFill>
            <a:blip r:embed="rId2"/>
            <a:stretch>
              <a:fillRect l="-4603" t="-4639" r="-860" b="-4455"/>
            </a:stretch>
          </a:blipFill>
        </p:spPr>
      </p:sp>
      <p:sp>
        <p:nvSpPr>
          <p:cNvPr name="TextBox 3" id="3"/>
          <p:cNvSpPr txBox="true"/>
          <p:nvPr/>
        </p:nvSpPr>
        <p:spPr>
          <a:xfrm rot="0">
            <a:off x="1028700" y="6882150"/>
            <a:ext cx="10124268" cy="2065020"/>
          </a:xfrm>
          <a:prstGeom prst="rect">
            <a:avLst/>
          </a:prstGeom>
        </p:spPr>
        <p:txBody>
          <a:bodyPr anchor="t" rtlCol="false" tIns="0" lIns="0" bIns="0" rIns="0">
            <a:spAutoFit/>
          </a:bodyPr>
          <a:lstStyle/>
          <a:p>
            <a:pPr algn="l">
              <a:lnSpc>
                <a:spcPts val="7740"/>
              </a:lnSpc>
            </a:pPr>
            <a:r>
              <a:rPr lang="en-US" sz="9000" spc="-630">
                <a:solidFill>
                  <a:srgbClr val="2A245E"/>
                </a:solidFill>
                <a:latin typeface="TT Firs Neue"/>
                <a:ea typeface="TT Firs Neue"/>
                <a:cs typeface="TT Firs Neue"/>
                <a:sym typeface="TT Firs Neue"/>
              </a:rPr>
              <a:t>MODELO BASELINE: YOLOV8</a:t>
            </a:r>
          </a:p>
        </p:txBody>
      </p:sp>
      <p:sp>
        <p:nvSpPr>
          <p:cNvPr name="TextBox 4" id="4"/>
          <p:cNvSpPr txBox="true"/>
          <p:nvPr/>
        </p:nvSpPr>
        <p:spPr>
          <a:xfrm rot="0">
            <a:off x="1028700" y="563433"/>
            <a:ext cx="7796211" cy="2483485"/>
          </a:xfrm>
          <a:prstGeom prst="rect">
            <a:avLst/>
          </a:prstGeom>
        </p:spPr>
        <p:txBody>
          <a:bodyPr anchor="t" rtlCol="false" tIns="0" lIns="0" bIns="0" rIns="0">
            <a:spAutoFit/>
          </a:bodyPr>
          <a:lstStyle/>
          <a:p>
            <a:pPr algn="l">
              <a:lnSpc>
                <a:spcPts val="2210"/>
              </a:lnSpc>
            </a:pPr>
            <a:r>
              <a:rPr lang="en-US" sz="1700" spc="-85">
                <a:solidFill>
                  <a:srgbClr val="2A245E"/>
                </a:solidFill>
                <a:latin typeface="TT Firs Neue"/>
                <a:ea typeface="TT Firs Neue"/>
                <a:cs typeface="TT Firs Neue"/>
                <a:sym typeface="TT Firs Neue"/>
              </a:rPr>
              <a:t>DESPUES DE HACER EL EDA DE NUESTRO DATASET Y COMPRENDER BIEN EL PROBLEMA AL QUE NOS ENFRENTABAMOS SE ELIGE COMO BASELINE YOLOV8 DEBIDO A QUE AUNQUE HAY MODELOS MÁS PRECISOS, EN GENERAL SUELEN SER MÁS LENTOS.  POR OTRA PARTE YOLOV8 COMBINA VELOCIDAD Y PRECISIÓN PERMITIENDO TENER BUENOS RESULTADOS SIN UTILIZAR UNA GRAN CANTIDAD DE PODER DE CÓMPUTO.</a:t>
            </a:r>
          </a:p>
          <a:p>
            <a:pPr algn="l">
              <a:lnSpc>
                <a:spcPts val="2210"/>
              </a:lnSpc>
            </a:pPr>
          </a:p>
          <a:p>
            <a:pPr algn="l">
              <a:lnSpc>
                <a:spcPts val="2210"/>
              </a:lnSpc>
            </a:pPr>
            <a:r>
              <a:rPr lang="en-US" sz="1700" spc="-85">
                <a:solidFill>
                  <a:srgbClr val="2A245E"/>
                </a:solidFill>
                <a:latin typeface="TT Firs Neue"/>
                <a:ea typeface="TT Firs Neue"/>
                <a:cs typeface="TT Firs Neue"/>
                <a:sym typeface="TT Firs Neue"/>
              </a:rPr>
              <a:t>DE ESTE BASELINE SE OBTUVIERON LOS SIGUIENTES RESULTADOS EN UN ENTRENAMIENTO DE 10 EPOCAS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1028700"/>
            <a:ext cx="8628642" cy="4540823"/>
          </a:xfrm>
          <a:custGeom>
            <a:avLst/>
            <a:gdLst/>
            <a:ahLst/>
            <a:cxnLst/>
            <a:rect r="r" b="b" t="t" l="l"/>
            <a:pathLst>
              <a:path h="4540823" w="8628642">
                <a:moveTo>
                  <a:pt x="0" y="0"/>
                </a:moveTo>
                <a:lnTo>
                  <a:pt x="8628642" y="0"/>
                </a:lnTo>
                <a:lnTo>
                  <a:pt x="8628642" y="4540823"/>
                </a:lnTo>
                <a:lnTo>
                  <a:pt x="0" y="4540823"/>
                </a:lnTo>
                <a:lnTo>
                  <a:pt x="0" y="0"/>
                </a:lnTo>
                <a:close/>
              </a:path>
            </a:pathLst>
          </a:custGeom>
          <a:blipFill>
            <a:blip r:embed="rId2"/>
            <a:stretch>
              <a:fillRect l="0" t="0" r="0" b="0"/>
            </a:stretch>
          </a:blipFill>
        </p:spPr>
      </p:sp>
      <p:sp>
        <p:nvSpPr>
          <p:cNvPr name="Freeform 3" id="3"/>
          <p:cNvSpPr/>
          <p:nvPr/>
        </p:nvSpPr>
        <p:spPr>
          <a:xfrm flipH="false" flipV="false" rot="0">
            <a:off x="535805" y="1028700"/>
            <a:ext cx="8608195" cy="4540823"/>
          </a:xfrm>
          <a:custGeom>
            <a:avLst/>
            <a:gdLst/>
            <a:ahLst/>
            <a:cxnLst/>
            <a:rect r="r" b="b" t="t" l="l"/>
            <a:pathLst>
              <a:path h="4540823" w="8608195">
                <a:moveTo>
                  <a:pt x="0" y="0"/>
                </a:moveTo>
                <a:lnTo>
                  <a:pt x="8608195" y="0"/>
                </a:lnTo>
                <a:lnTo>
                  <a:pt x="8608195" y="4540823"/>
                </a:lnTo>
                <a:lnTo>
                  <a:pt x="0" y="4540823"/>
                </a:lnTo>
                <a:lnTo>
                  <a:pt x="0" y="0"/>
                </a:lnTo>
                <a:close/>
              </a:path>
            </a:pathLst>
          </a:custGeom>
          <a:blipFill>
            <a:blip r:embed="rId3"/>
            <a:stretch>
              <a:fillRect l="0" t="0" r="0" b="0"/>
            </a:stretch>
          </a:blipFill>
        </p:spPr>
      </p:sp>
      <p:sp>
        <p:nvSpPr>
          <p:cNvPr name="Freeform 4" id="4"/>
          <p:cNvSpPr/>
          <p:nvPr/>
        </p:nvSpPr>
        <p:spPr>
          <a:xfrm flipH="false" flipV="false" rot="0">
            <a:off x="535805" y="5569523"/>
            <a:ext cx="8608195" cy="4540823"/>
          </a:xfrm>
          <a:custGeom>
            <a:avLst/>
            <a:gdLst/>
            <a:ahLst/>
            <a:cxnLst/>
            <a:rect r="r" b="b" t="t" l="l"/>
            <a:pathLst>
              <a:path h="4540823" w="8608195">
                <a:moveTo>
                  <a:pt x="0" y="0"/>
                </a:moveTo>
                <a:lnTo>
                  <a:pt x="8608195" y="0"/>
                </a:lnTo>
                <a:lnTo>
                  <a:pt x="8608195" y="4540823"/>
                </a:lnTo>
                <a:lnTo>
                  <a:pt x="0" y="4540823"/>
                </a:lnTo>
                <a:lnTo>
                  <a:pt x="0" y="0"/>
                </a:lnTo>
                <a:close/>
              </a:path>
            </a:pathLst>
          </a:custGeom>
          <a:blipFill>
            <a:blip r:embed="rId4"/>
            <a:stretch>
              <a:fillRect l="0" t="0" r="0" b="0"/>
            </a:stretch>
          </a:blipFill>
        </p:spPr>
      </p:sp>
      <p:sp>
        <p:nvSpPr>
          <p:cNvPr name="Freeform 5" id="5"/>
          <p:cNvSpPr/>
          <p:nvPr/>
        </p:nvSpPr>
        <p:spPr>
          <a:xfrm flipH="false" flipV="false" rot="0">
            <a:off x="9144000" y="5569523"/>
            <a:ext cx="8608195" cy="4540823"/>
          </a:xfrm>
          <a:custGeom>
            <a:avLst/>
            <a:gdLst/>
            <a:ahLst/>
            <a:cxnLst/>
            <a:rect r="r" b="b" t="t" l="l"/>
            <a:pathLst>
              <a:path h="4540823" w="8608195">
                <a:moveTo>
                  <a:pt x="0" y="0"/>
                </a:moveTo>
                <a:lnTo>
                  <a:pt x="8608195" y="0"/>
                </a:lnTo>
                <a:lnTo>
                  <a:pt x="8608195" y="4540823"/>
                </a:lnTo>
                <a:lnTo>
                  <a:pt x="0" y="4540823"/>
                </a:lnTo>
                <a:lnTo>
                  <a:pt x="0" y="0"/>
                </a:lnTo>
                <a:close/>
              </a:path>
            </a:pathLst>
          </a:custGeom>
          <a:blipFill>
            <a:blip r:embed="rId5"/>
            <a:stretch>
              <a:fillRect l="0" t="0" r="0" b="0"/>
            </a:stretch>
          </a:blipFill>
        </p:spPr>
      </p:sp>
      <p:sp>
        <p:nvSpPr>
          <p:cNvPr name="TextBox 6" id="6"/>
          <p:cNvSpPr txBox="true"/>
          <p:nvPr/>
        </p:nvSpPr>
        <p:spPr>
          <a:xfrm rot="0">
            <a:off x="6327884" y="259193"/>
            <a:ext cx="5632232" cy="769507"/>
          </a:xfrm>
          <a:prstGeom prst="rect">
            <a:avLst/>
          </a:prstGeom>
        </p:spPr>
        <p:txBody>
          <a:bodyPr anchor="t" rtlCol="false" tIns="0" lIns="0" bIns="0" rIns="0">
            <a:spAutoFit/>
          </a:bodyPr>
          <a:lstStyle/>
          <a:p>
            <a:pPr algn="l">
              <a:lnSpc>
                <a:spcPts val="5532"/>
              </a:lnSpc>
            </a:pPr>
            <a:r>
              <a:rPr lang="en-US" sz="6433" spc="-450">
                <a:solidFill>
                  <a:srgbClr val="2A245E"/>
                </a:solidFill>
                <a:latin typeface="TT Firs Neue"/>
                <a:ea typeface="TT Firs Neue"/>
                <a:cs typeface="TT Firs Neue"/>
                <a:sym typeface="TT Firs Neue"/>
              </a:rPr>
              <a:t>PREDICCIONES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9599855" y="1028700"/>
            <a:ext cx="7927611" cy="7066384"/>
          </a:xfrm>
          <a:custGeom>
            <a:avLst/>
            <a:gdLst/>
            <a:ahLst/>
            <a:cxnLst/>
            <a:rect r="r" b="b" t="t" l="l"/>
            <a:pathLst>
              <a:path h="7066384" w="7927611">
                <a:moveTo>
                  <a:pt x="0" y="0"/>
                </a:moveTo>
                <a:lnTo>
                  <a:pt x="7927611" y="0"/>
                </a:lnTo>
                <a:lnTo>
                  <a:pt x="7927611" y="7066384"/>
                </a:lnTo>
                <a:lnTo>
                  <a:pt x="0" y="7066384"/>
                </a:lnTo>
                <a:lnTo>
                  <a:pt x="0" y="0"/>
                </a:lnTo>
                <a:close/>
              </a:path>
            </a:pathLst>
          </a:custGeom>
          <a:blipFill>
            <a:blip r:embed="rId2"/>
            <a:stretch>
              <a:fillRect l="-15641" t="-2597" r="-19589" b="-12135"/>
            </a:stretch>
          </a:blipFill>
        </p:spPr>
      </p:sp>
      <p:sp>
        <p:nvSpPr>
          <p:cNvPr name="Freeform 3" id="3"/>
          <p:cNvSpPr/>
          <p:nvPr/>
        </p:nvSpPr>
        <p:spPr>
          <a:xfrm flipH="false" flipV="false" rot="0">
            <a:off x="1028700" y="1028700"/>
            <a:ext cx="8115300" cy="7066384"/>
          </a:xfrm>
          <a:custGeom>
            <a:avLst/>
            <a:gdLst/>
            <a:ahLst/>
            <a:cxnLst/>
            <a:rect r="r" b="b" t="t" l="l"/>
            <a:pathLst>
              <a:path h="7066384" w="8115300">
                <a:moveTo>
                  <a:pt x="0" y="0"/>
                </a:moveTo>
                <a:lnTo>
                  <a:pt x="8115300" y="0"/>
                </a:lnTo>
                <a:lnTo>
                  <a:pt x="8115300" y="7066384"/>
                </a:lnTo>
                <a:lnTo>
                  <a:pt x="0" y="7066384"/>
                </a:lnTo>
                <a:lnTo>
                  <a:pt x="0" y="0"/>
                </a:lnTo>
                <a:close/>
              </a:path>
            </a:pathLst>
          </a:custGeom>
          <a:blipFill>
            <a:blip r:embed="rId3"/>
            <a:stretch>
              <a:fillRect l="-14934" t="-2305" r="-17655" b="-12849"/>
            </a:stretch>
          </a:blipFill>
        </p:spPr>
      </p:sp>
      <p:sp>
        <p:nvSpPr>
          <p:cNvPr name="TextBox 4" id="4"/>
          <p:cNvSpPr txBox="true"/>
          <p:nvPr/>
        </p:nvSpPr>
        <p:spPr>
          <a:xfrm rot="0">
            <a:off x="1028700" y="9040040"/>
            <a:ext cx="16574821" cy="1039265"/>
          </a:xfrm>
          <a:prstGeom prst="rect">
            <a:avLst/>
          </a:prstGeom>
        </p:spPr>
        <p:txBody>
          <a:bodyPr anchor="t" rtlCol="false" tIns="0" lIns="0" bIns="0" rIns="0">
            <a:spAutoFit/>
          </a:bodyPr>
          <a:lstStyle/>
          <a:p>
            <a:pPr algn="r">
              <a:lnSpc>
                <a:spcPts val="7487"/>
              </a:lnSpc>
            </a:pPr>
            <a:r>
              <a:rPr lang="en-US" sz="8706" spc="-609">
                <a:solidFill>
                  <a:srgbClr val="2A245E"/>
                </a:solidFill>
                <a:latin typeface="TT Firs Neue"/>
                <a:ea typeface="TT Firs Neue"/>
                <a:cs typeface="TT Firs Neue"/>
                <a:sym typeface="TT Firs Neue"/>
              </a:rPr>
              <a:t>YOLOV8 - MATRIZ DE CONFUSION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291690" y="5062927"/>
            <a:ext cx="10485385" cy="2334202"/>
          </a:xfrm>
          <a:custGeom>
            <a:avLst/>
            <a:gdLst/>
            <a:ahLst/>
            <a:cxnLst/>
            <a:rect r="r" b="b" t="t" l="l"/>
            <a:pathLst>
              <a:path h="2334202" w="10485385">
                <a:moveTo>
                  <a:pt x="0" y="0"/>
                </a:moveTo>
                <a:lnTo>
                  <a:pt x="10485386" y="0"/>
                </a:lnTo>
                <a:lnTo>
                  <a:pt x="10485386" y="2334202"/>
                </a:lnTo>
                <a:lnTo>
                  <a:pt x="0" y="2334202"/>
                </a:lnTo>
                <a:lnTo>
                  <a:pt x="0" y="0"/>
                </a:lnTo>
                <a:close/>
              </a:path>
            </a:pathLst>
          </a:custGeom>
          <a:blipFill>
            <a:blip r:embed="rId2"/>
            <a:stretch>
              <a:fillRect l="0" t="0" r="0" b="0"/>
            </a:stretch>
          </a:blipFill>
        </p:spPr>
      </p:sp>
      <p:sp>
        <p:nvSpPr>
          <p:cNvPr name="TextBox 3" id="3"/>
          <p:cNvSpPr txBox="true"/>
          <p:nvPr/>
        </p:nvSpPr>
        <p:spPr>
          <a:xfrm rot="0">
            <a:off x="5799894" y="8491846"/>
            <a:ext cx="9954362" cy="1083945"/>
          </a:xfrm>
          <a:prstGeom prst="rect">
            <a:avLst/>
          </a:prstGeom>
        </p:spPr>
        <p:txBody>
          <a:bodyPr anchor="t" rtlCol="false" tIns="0" lIns="0" bIns="0" rIns="0">
            <a:spAutoFit/>
          </a:bodyPr>
          <a:lstStyle/>
          <a:p>
            <a:pPr algn="r">
              <a:lnSpc>
                <a:spcPts val="7740"/>
              </a:lnSpc>
            </a:pPr>
            <a:r>
              <a:rPr lang="en-US" sz="9000" spc="-630">
                <a:solidFill>
                  <a:srgbClr val="2A245E"/>
                </a:solidFill>
                <a:latin typeface="TT Firs Neue"/>
                <a:ea typeface="TT Firs Neue"/>
                <a:cs typeface="TT Firs Neue"/>
                <a:sym typeface="TT Firs Neue"/>
              </a:rPr>
              <a:t>YOLOV11</a:t>
            </a:r>
          </a:p>
        </p:txBody>
      </p:sp>
      <p:sp>
        <p:nvSpPr>
          <p:cNvPr name="TextBox 4" id="4"/>
          <p:cNvSpPr txBox="true"/>
          <p:nvPr/>
        </p:nvSpPr>
        <p:spPr>
          <a:xfrm rot="0">
            <a:off x="1028700" y="1336482"/>
            <a:ext cx="9092029" cy="2483485"/>
          </a:xfrm>
          <a:prstGeom prst="rect">
            <a:avLst/>
          </a:prstGeom>
        </p:spPr>
        <p:txBody>
          <a:bodyPr anchor="t" rtlCol="false" tIns="0" lIns="0" bIns="0" rIns="0">
            <a:spAutoFit/>
          </a:bodyPr>
          <a:lstStyle/>
          <a:p>
            <a:pPr algn="l">
              <a:lnSpc>
                <a:spcPts val="2210"/>
              </a:lnSpc>
            </a:pPr>
            <a:r>
              <a:rPr lang="en-US" sz="1700" spc="-85">
                <a:solidFill>
                  <a:srgbClr val="2A245E"/>
                </a:solidFill>
                <a:latin typeface="TT Firs Neue"/>
                <a:ea typeface="TT Firs Neue"/>
                <a:cs typeface="TT Firs Neue"/>
                <a:sym typeface="TT Firs Neue"/>
              </a:rPr>
              <a:t>LUEGO DE HACER PRUEBAS CON YOLOV8 PROCEDIMOS A IMPLEMENTAR UN MODELO UN POCO MAS COMPLEJO, COMO ES YOLOV11.</a:t>
            </a:r>
          </a:p>
          <a:p>
            <a:pPr algn="l">
              <a:lnSpc>
                <a:spcPts val="2210"/>
              </a:lnSpc>
            </a:pPr>
          </a:p>
          <a:p>
            <a:pPr algn="l">
              <a:lnSpc>
                <a:spcPts val="2210"/>
              </a:lnSpc>
            </a:pPr>
            <a:r>
              <a:rPr lang="en-US" sz="1700" spc="-85">
                <a:solidFill>
                  <a:srgbClr val="2A245E"/>
                </a:solidFill>
                <a:latin typeface="TT Firs Neue"/>
                <a:ea typeface="TT Firs Neue"/>
                <a:cs typeface="TT Firs Neue"/>
                <a:sym typeface="TT Firs Neue"/>
              </a:rPr>
              <a:t>PARA ESTO OPTAMOS POR UTILIZAR OPTUNA PARA ENCONTRAR LA MEJOR COMBINACION DE HIPERPARAMETROS PARA NUESTRO SET DE DATOS.</a:t>
            </a:r>
          </a:p>
          <a:p>
            <a:pPr algn="l">
              <a:lnSpc>
                <a:spcPts val="2210"/>
              </a:lnSpc>
            </a:pPr>
          </a:p>
          <a:p>
            <a:pPr algn="l">
              <a:lnSpc>
                <a:spcPts val="2210"/>
              </a:lnSpc>
            </a:pPr>
            <a:r>
              <a:rPr lang="en-US" sz="1700" spc="-85">
                <a:solidFill>
                  <a:srgbClr val="2A245E"/>
                </a:solidFill>
                <a:latin typeface="TT Firs Neue"/>
                <a:ea typeface="TT Firs Neue"/>
                <a:cs typeface="TT Firs Neue"/>
                <a:sym typeface="TT Firs Neue"/>
              </a:rPr>
              <a:t>DE ESTA BUSQUEDA OBTUVIMO LA MEJOR COMBINACION DE HIPERPARAMETROS CON LOS QUE LUEGO PROCEDIMOS A HACER UN ENTRENAMIENTO DE 20 EPOCAS OBTENIENDO LOS SIGUIENTES RESULTADOS.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641883" y="1028700"/>
            <a:ext cx="8512203" cy="4479547"/>
          </a:xfrm>
          <a:custGeom>
            <a:avLst/>
            <a:gdLst/>
            <a:ahLst/>
            <a:cxnLst/>
            <a:rect r="r" b="b" t="t" l="l"/>
            <a:pathLst>
              <a:path h="4479547" w="8512203">
                <a:moveTo>
                  <a:pt x="0" y="0"/>
                </a:moveTo>
                <a:lnTo>
                  <a:pt x="8512203" y="0"/>
                </a:lnTo>
                <a:lnTo>
                  <a:pt x="8512203" y="4479547"/>
                </a:lnTo>
                <a:lnTo>
                  <a:pt x="0" y="4479547"/>
                </a:lnTo>
                <a:lnTo>
                  <a:pt x="0" y="0"/>
                </a:lnTo>
                <a:close/>
              </a:path>
            </a:pathLst>
          </a:custGeom>
          <a:blipFill>
            <a:blip r:embed="rId2"/>
            <a:stretch>
              <a:fillRect l="0" t="0" r="0" b="0"/>
            </a:stretch>
          </a:blipFill>
        </p:spPr>
      </p:sp>
      <p:sp>
        <p:nvSpPr>
          <p:cNvPr name="Freeform 3" id="3"/>
          <p:cNvSpPr/>
          <p:nvPr/>
        </p:nvSpPr>
        <p:spPr>
          <a:xfrm flipH="false" flipV="false" rot="0">
            <a:off x="9154086" y="1028700"/>
            <a:ext cx="8492032" cy="4479547"/>
          </a:xfrm>
          <a:custGeom>
            <a:avLst/>
            <a:gdLst/>
            <a:ahLst/>
            <a:cxnLst/>
            <a:rect r="r" b="b" t="t" l="l"/>
            <a:pathLst>
              <a:path h="4479547" w="8492032">
                <a:moveTo>
                  <a:pt x="0" y="0"/>
                </a:moveTo>
                <a:lnTo>
                  <a:pt x="8492031" y="0"/>
                </a:lnTo>
                <a:lnTo>
                  <a:pt x="8492031" y="4479547"/>
                </a:lnTo>
                <a:lnTo>
                  <a:pt x="0" y="4479547"/>
                </a:lnTo>
                <a:lnTo>
                  <a:pt x="0" y="0"/>
                </a:lnTo>
                <a:close/>
              </a:path>
            </a:pathLst>
          </a:custGeom>
          <a:blipFill>
            <a:blip r:embed="rId3"/>
            <a:stretch>
              <a:fillRect l="0" t="0" r="0" b="0"/>
            </a:stretch>
          </a:blipFill>
        </p:spPr>
      </p:sp>
      <p:sp>
        <p:nvSpPr>
          <p:cNvPr name="Freeform 4" id="4"/>
          <p:cNvSpPr/>
          <p:nvPr/>
        </p:nvSpPr>
        <p:spPr>
          <a:xfrm flipH="false" flipV="false" rot="0">
            <a:off x="641883" y="5508247"/>
            <a:ext cx="8512203" cy="4490187"/>
          </a:xfrm>
          <a:custGeom>
            <a:avLst/>
            <a:gdLst/>
            <a:ahLst/>
            <a:cxnLst/>
            <a:rect r="r" b="b" t="t" l="l"/>
            <a:pathLst>
              <a:path h="4490187" w="8512203">
                <a:moveTo>
                  <a:pt x="0" y="0"/>
                </a:moveTo>
                <a:lnTo>
                  <a:pt x="8512203" y="0"/>
                </a:lnTo>
                <a:lnTo>
                  <a:pt x="8512203" y="4490186"/>
                </a:lnTo>
                <a:lnTo>
                  <a:pt x="0" y="4490186"/>
                </a:lnTo>
                <a:lnTo>
                  <a:pt x="0" y="0"/>
                </a:lnTo>
                <a:close/>
              </a:path>
            </a:pathLst>
          </a:custGeom>
          <a:blipFill>
            <a:blip r:embed="rId4"/>
            <a:stretch>
              <a:fillRect l="0" t="0" r="0" b="0"/>
            </a:stretch>
          </a:blipFill>
        </p:spPr>
      </p:sp>
      <p:sp>
        <p:nvSpPr>
          <p:cNvPr name="Freeform 5" id="5"/>
          <p:cNvSpPr/>
          <p:nvPr/>
        </p:nvSpPr>
        <p:spPr>
          <a:xfrm flipH="false" flipV="false" rot="0">
            <a:off x="9154086" y="5508247"/>
            <a:ext cx="8492032" cy="4479547"/>
          </a:xfrm>
          <a:custGeom>
            <a:avLst/>
            <a:gdLst/>
            <a:ahLst/>
            <a:cxnLst/>
            <a:rect r="r" b="b" t="t" l="l"/>
            <a:pathLst>
              <a:path h="4479547" w="8492032">
                <a:moveTo>
                  <a:pt x="0" y="0"/>
                </a:moveTo>
                <a:lnTo>
                  <a:pt x="8492031" y="0"/>
                </a:lnTo>
                <a:lnTo>
                  <a:pt x="8492031" y="4479546"/>
                </a:lnTo>
                <a:lnTo>
                  <a:pt x="0" y="4479546"/>
                </a:lnTo>
                <a:lnTo>
                  <a:pt x="0" y="0"/>
                </a:lnTo>
                <a:close/>
              </a:path>
            </a:pathLst>
          </a:custGeom>
          <a:blipFill>
            <a:blip r:embed="rId5"/>
            <a:stretch>
              <a:fillRect l="0" t="0" r="0" b="0"/>
            </a:stretch>
          </a:blipFill>
        </p:spPr>
      </p:sp>
      <p:sp>
        <p:nvSpPr>
          <p:cNvPr name="TextBox 6" id="6"/>
          <p:cNvSpPr txBox="true"/>
          <p:nvPr/>
        </p:nvSpPr>
        <p:spPr>
          <a:xfrm rot="0">
            <a:off x="6327884" y="259193"/>
            <a:ext cx="5632232" cy="769507"/>
          </a:xfrm>
          <a:prstGeom prst="rect">
            <a:avLst/>
          </a:prstGeom>
        </p:spPr>
        <p:txBody>
          <a:bodyPr anchor="t" rtlCol="false" tIns="0" lIns="0" bIns="0" rIns="0">
            <a:spAutoFit/>
          </a:bodyPr>
          <a:lstStyle/>
          <a:p>
            <a:pPr algn="l">
              <a:lnSpc>
                <a:spcPts val="5532"/>
              </a:lnSpc>
            </a:pPr>
            <a:r>
              <a:rPr lang="en-US" sz="6433" spc="-450">
                <a:solidFill>
                  <a:srgbClr val="2A245E"/>
                </a:solidFill>
                <a:latin typeface="TT Firs Neue"/>
                <a:ea typeface="TT Firs Neue"/>
                <a:cs typeface="TT Firs Neue"/>
                <a:sym typeface="TT Firs Neue"/>
              </a:rPr>
              <a:t>PREDICCIONES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sp>
        <p:nvSpPr>
          <p:cNvPr name="Freeform 2" id="2"/>
          <p:cNvSpPr/>
          <p:nvPr/>
        </p:nvSpPr>
        <p:spPr>
          <a:xfrm flipH="false" flipV="false" rot="0">
            <a:off x="9773866" y="1471169"/>
            <a:ext cx="7829655" cy="6805613"/>
          </a:xfrm>
          <a:custGeom>
            <a:avLst/>
            <a:gdLst/>
            <a:ahLst/>
            <a:cxnLst/>
            <a:rect r="r" b="b" t="t" l="l"/>
            <a:pathLst>
              <a:path h="6805613" w="7829655">
                <a:moveTo>
                  <a:pt x="0" y="0"/>
                </a:moveTo>
                <a:lnTo>
                  <a:pt x="7829655" y="0"/>
                </a:lnTo>
                <a:lnTo>
                  <a:pt x="7829655" y="6805613"/>
                </a:lnTo>
                <a:lnTo>
                  <a:pt x="0" y="6805613"/>
                </a:lnTo>
                <a:lnTo>
                  <a:pt x="0" y="0"/>
                </a:lnTo>
                <a:close/>
              </a:path>
            </a:pathLst>
          </a:custGeom>
          <a:blipFill>
            <a:blip r:embed="rId2"/>
            <a:stretch>
              <a:fillRect l="0" t="0" r="0" b="0"/>
            </a:stretch>
          </a:blipFill>
        </p:spPr>
      </p:sp>
      <p:sp>
        <p:nvSpPr>
          <p:cNvPr name="Freeform 3" id="3"/>
          <p:cNvSpPr/>
          <p:nvPr/>
        </p:nvSpPr>
        <p:spPr>
          <a:xfrm flipH="false" flipV="false" rot="0">
            <a:off x="1028700" y="1471169"/>
            <a:ext cx="7816671" cy="6805613"/>
          </a:xfrm>
          <a:custGeom>
            <a:avLst/>
            <a:gdLst/>
            <a:ahLst/>
            <a:cxnLst/>
            <a:rect r="r" b="b" t="t" l="l"/>
            <a:pathLst>
              <a:path h="6805613" w="7816671">
                <a:moveTo>
                  <a:pt x="0" y="0"/>
                </a:moveTo>
                <a:lnTo>
                  <a:pt x="7816671" y="0"/>
                </a:lnTo>
                <a:lnTo>
                  <a:pt x="7816671" y="6805613"/>
                </a:lnTo>
                <a:lnTo>
                  <a:pt x="0" y="6805613"/>
                </a:lnTo>
                <a:lnTo>
                  <a:pt x="0" y="0"/>
                </a:lnTo>
                <a:close/>
              </a:path>
            </a:pathLst>
          </a:custGeom>
          <a:blipFill>
            <a:blip r:embed="rId3"/>
            <a:stretch>
              <a:fillRect l="0" t="0" r="0" b="0"/>
            </a:stretch>
          </a:blipFill>
        </p:spPr>
      </p:sp>
      <p:sp>
        <p:nvSpPr>
          <p:cNvPr name="TextBox 4" id="4"/>
          <p:cNvSpPr txBox="true"/>
          <p:nvPr/>
        </p:nvSpPr>
        <p:spPr>
          <a:xfrm rot="0">
            <a:off x="1028700" y="9040040"/>
            <a:ext cx="16574821" cy="1013118"/>
          </a:xfrm>
          <a:prstGeom prst="rect">
            <a:avLst/>
          </a:prstGeom>
        </p:spPr>
        <p:txBody>
          <a:bodyPr anchor="t" rtlCol="false" tIns="0" lIns="0" bIns="0" rIns="0">
            <a:spAutoFit/>
          </a:bodyPr>
          <a:lstStyle/>
          <a:p>
            <a:pPr algn="r">
              <a:lnSpc>
                <a:spcPts val="7339"/>
              </a:lnSpc>
            </a:pPr>
            <a:r>
              <a:rPr lang="en-US" sz="8534" spc="-597">
                <a:solidFill>
                  <a:srgbClr val="2A245E"/>
                </a:solidFill>
                <a:latin typeface="TT Firs Neue"/>
                <a:ea typeface="TT Firs Neue"/>
                <a:cs typeface="TT Firs Neue"/>
                <a:sym typeface="TT Firs Neue"/>
              </a:rPr>
              <a:t>YOLOV11 - MATRIZ DE CONFUSION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6E6E6"/>
        </a:solidFill>
      </p:bgPr>
    </p:bg>
    <p:spTree>
      <p:nvGrpSpPr>
        <p:cNvPr id="1" name=""/>
        <p:cNvGrpSpPr/>
        <p:nvPr/>
      </p:nvGrpSpPr>
      <p:grpSpPr>
        <a:xfrm>
          <a:off x="0" y="0"/>
          <a:ext cx="0" cy="0"/>
          <a:chOff x="0" y="0"/>
          <a:chExt cx="0" cy="0"/>
        </a:xfrm>
      </p:grpSpPr>
      <p:sp>
        <p:nvSpPr>
          <p:cNvPr name="TextBox 2" id="2"/>
          <p:cNvSpPr txBox="true"/>
          <p:nvPr/>
        </p:nvSpPr>
        <p:spPr>
          <a:xfrm rot="0">
            <a:off x="1028700" y="1130712"/>
            <a:ext cx="10524919" cy="1608265"/>
          </a:xfrm>
          <a:prstGeom prst="rect">
            <a:avLst/>
          </a:prstGeom>
        </p:spPr>
        <p:txBody>
          <a:bodyPr anchor="t" rtlCol="false" tIns="0" lIns="0" bIns="0" rIns="0">
            <a:spAutoFit/>
          </a:bodyPr>
          <a:lstStyle/>
          <a:p>
            <a:pPr algn="l">
              <a:lnSpc>
                <a:spcPts val="11542"/>
              </a:lnSpc>
            </a:pPr>
            <a:r>
              <a:rPr lang="en-US" sz="13422" spc="-939">
                <a:solidFill>
                  <a:srgbClr val="2A245E"/>
                </a:solidFill>
                <a:latin typeface="TT Firs Neue"/>
                <a:ea typeface="TT Firs Neue"/>
                <a:cs typeface="TT Firs Neue"/>
                <a:sym typeface="TT Firs Neue"/>
              </a:rPr>
              <a:t>CONCLUSIÓN</a:t>
            </a:r>
          </a:p>
        </p:txBody>
      </p:sp>
      <p:sp>
        <p:nvSpPr>
          <p:cNvPr name="TextBox 3" id="3"/>
          <p:cNvSpPr txBox="true"/>
          <p:nvPr/>
        </p:nvSpPr>
        <p:spPr>
          <a:xfrm rot="0">
            <a:off x="1028700" y="2710402"/>
            <a:ext cx="10705640" cy="5495511"/>
          </a:xfrm>
          <a:prstGeom prst="rect">
            <a:avLst/>
          </a:prstGeom>
        </p:spPr>
        <p:txBody>
          <a:bodyPr anchor="t" rtlCol="false" tIns="0" lIns="0" bIns="0" rIns="0">
            <a:spAutoFit/>
          </a:bodyPr>
          <a:lstStyle/>
          <a:p>
            <a:pPr algn="l">
              <a:lnSpc>
                <a:spcPts val="2931"/>
              </a:lnSpc>
            </a:pPr>
            <a:r>
              <a:rPr lang="en-US" sz="2254" spc="-112">
                <a:solidFill>
                  <a:srgbClr val="2A245E"/>
                </a:solidFill>
                <a:latin typeface="TT Firs Neue"/>
                <a:ea typeface="TT Firs Neue"/>
                <a:cs typeface="TT Firs Neue"/>
                <a:sym typeface="TT Firs Neue"/>
              </a:rPr>
              <a:t>AUNQUE AMBOS MODELOS YOLO SON CAPACES DE DETECTAR ANOMALÍAS EN LAS IMÁGENES DE RAYOS X, EXISTE UN CLARO DESAFÍO EN LA PRECISIÓN DE LA LOCALIZACIÓN DE LAS BOUNDING BOXES (EVIDENCIADO POR LA BRECHA ENTRE MAP50 Y MAP50-95) Y EN LA DETECCIÓN DE CIERTAS CLASES, PARTICULARMENTE LA CLASE 2. EL MODELO YOLOV8N MOSTRÓ UN RENDIMIENTO LIGERAMENTE SUPERIOR EN LAS MÉTRICAS GLOBALES EN ESTE CASO ESPECÍFICO. FUTUROS TRABAJOS PODRÍAN ENFOCARSE EN:</a:t>
            </a:r>
          </a:p>
          <a:p>
            <a:pPr algn="l">
              <a:lnSpc>
                <a:spcPts val="2931"/>
              </a:lnSpc>
            </a:pPr>
          </a:p>
          <a:p>
            <a:pPr algn="l">
              <a:lnSpc>
                <a:spcPts val="2931"/>
              </a:lnSpc>
            </a:pPr>
            <a:r>
              <a:rPr lang="en-US" sz="2254" spc="-112">
                <a:solidFill>
                  <a:srgbClr val="2A245E"/>
                </a:solidFill>
                <a:latin typeface="TT Firs Neue"/>
                <a:ea typeface="TT Firs Neue"/>
                <a:cs typeface="TT Firs Neue"/>
                <a:sym typeface="TT Firs Neue"/>
              </a:rPr>
              <a:t>1.  EXPERIMENTAR CON MODELOS YOLO DE MAYOR CAPACIDAD (POR EJEMPLO, YOLOV8M, YOLOV11M).</a:t>
            </a:r>
          </a:p>
          <a:p>
            <a:pPr algn="l">
              <a:lnSpc>
                <a:spcPts val="2931"/>
              </a:lnSpc>
            </a:pPr>
            <a:r>
              <a:rPr lang="en-US" sz="2254" spc="-112">
                <a:solidFill>
                  <a:srgbClr val="2A245E"/>
                </a:solidFill>
                <a:latin typeface="TT Firs Neue"/>
                <a:ea typeface="TT Firs Neue"/>
                <a:cs typeface="TT Firs Neue"/>
                <a:sym typeface="TT Firs Neue"/>
              </a:rPr>
              <a:t>2.  REALIZAR UNA BÚSQUEDA DE HIPERPARÁMETROS MÁS EXHAUSTIVA CON MÁS TRIALS Y ÉPOCAS.</a:t>
            </a:r>
          </a:p>
          <a:p>
            <a:pPr algn="l">
              <a:lnSpc>
                <a:spcPts val="2931"/>
              </a:lnSpc>
            </a:pPr>
            <a:r>
              <a:rPr lang="en-US" sz="2254" spc="-112">
                <a:solidFill>
                  <a:srgbClr val="2A245E"/>
                </a:solidFill>
                <a:latin typeface="TT Firs Neue"/>
                <a:ea typeface="TT Firs Neue"/>
                <a:cs typeface="TT Firs Neue"/>
                <a:sym typeface="TT Firs Neue"/>
              </a:rPr>
              <a:t>3.  ANALIZAR EN PROFUNDIDAD LAS IMÁGENES DE LAS CLASES CON PEOR RENDIMIENTO PARA IDENTIFICAR PATRONES Y DESAFÍOS ESPECÍFICOS.</a:t>
            </a:r>
          </a:p>
          <a:p>
            <a:pPr algn="l">
              <a:lnSpc>
                <a:spcPts val="2931"/>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6E6E6"/>
        </a:solidFill>
      </p:bgPr>
    </p:bg>
    <p:spTree>
      <p:nvGrpSpPr>
        <p:cNvPr id="1" name=""/>
        <p:cNvGrpSpPr/>
        <p:nvPr/>
      </p:nvGrpSpPr>
      <p:grpSpPr>
        <a:xfrm>
          <a:off x="0" y="0"/>
          <a:ext cx="0" cy="0"/>
          <a:chOff x="0" y="0"/>
          <a:chExt cx="0" cy="0"/>
        </a:xfrm>
      </p:grpSpPr>
      <p:grpSp>
        <p:nvGrpSpPr>
          <p:cNvPr name="Group 2" id="2"/>
          <p:cNvGrpSpPr/>
          <p:nvPr/>
        </p:nvGrpSpPr>
        <p:grpSpPr>
          <a:xfrm rot="0">
            <a:off x="8127657" y="1028700"/>
            <a:ext cx="2900749" cy="753762"/>
            <a:chOff x="0" y="0"/>
            <a:chExt cx="763983" cy="198522"/>
          </a:xfrm>
        </p:grpSpPr>
        <p:sp>
          <p:nvSpPr>
            <p:cNvPr name="Freeform 3" id="3"/>
            <p:cNvSpPr/>
            <p:nvPr/>
          </p:nvSpPr>
          <p:spPr>
            <a:xfrm flipH="false" flipV="false" rot="0">
              <a:off x="0" y="0"/>
              <a:ext cx="763983" cy="198522"/>
            </a:xfrm>
            <a:custGeom>
              <a:avLst/>
              <a:gdLst/>
              <a:ahLst/>
              <a:cxnLst/>
              <a:rect r="r" b="b" t="t" l="l"/>
              <a:pathLst>
                <a:path h="198522" w="763983">
                  <a:moveTo>
                    <a:pt x="99261" y="0"/>
                  </a:moveTo>
                  <a:lnTo>
                    <a:pt x="664722" y="0"/>
                  </a:lnTo>
                  <a:cubicBezTo>
                    <a:pt x="719543" y="0"/>
                    <a:pt x="763983" y="44441"/>
                    <a:pt x="763983" y="99261"/>
                  </a:cubicBezTo>
                  <a:lnTo>
                    <a:pt x="763983" y="99261"/>
                  </a:lnTo>
                  <a:cubicBezTo>
                    <a:pt x="763983" y="154081"/>
                    <a:pt x="719543" y="198522"/>
                    <a:pt x="664722" y="198522"/>
                  </a:cubicBezTo>
                  <a:lnTo>
                    <a:pt x="99261" y="198522"/>
                  </a:lnTo>
                  <a:cubicBezTo>
                    <a:pt x="44441" y="198522"/>
                    <a:pt x="0" y="154081"/>
                    <a:pt x="0" y="99261"/>
                  </a:cubicBezTo>
                  <a:lnTo>
                    <a:pt x="0" y="99261"/>
                  </a:lnTo>
                  <a:cubicBezTo>
                    <a:pt x="0" y="44441"/>
                    <a:pt x="44441" y="0"/>
                    <a:pt x="99261" y="0"/>
                  </a:cubicBezTo>
                  <a:close/>
                </a:path>
              </a:pathLst>
            </a:custGeom>
            <a:solidFill>
              <a:srgbClr val="F3D339"/>
            </a:solidFill>
          </p:spPr>
        </p:sp>
        <p:sp>
          <p:nvSpPr>
            <p:cNvPr name="TextBox 4" id="4"/>
            <p:cNvSpPr txBox="true"/>
            <p:nvPr/>
          </p:nvSpPr>
          <p:spPr>
            <a:xfrm>
              <a:off x="0" y="-38100"/>
              <a:ext cx="763983" cy="2366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259595" y="1028700"/>
            <a:ext cx="753762" cy="75376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C1C2"/>
            </a:solidFill>
          </p:spPr>
        </p:sp>
        <p:sp>
          <p:nvSpPr>
            <p:cNvPr name="TextBox 7" id="7"/>
            <p:cNvSpPr txBox="true"/>
            <p:nvPr/>
          </p:nvSpPr>
          <p:spPr>
            <a:xfrm>
              <a:off x="76200" y="142875"/>
              <a:ext cx="660400" cy="593725"/>
            </a:xfrm>
            <a:prstGeom prst="rect">
              <a:avLst/>
            </a:prstGeom>
          </p:spPr>
          <p:txBody>
            <a:bodyPr anchor="ctr" rtlCol="false" tIns="50800" lIns="50800" bIns="50800" rIns="50800"/>
            <a:lstStyle/>
            <a:p>
              <a:pPr algn="ctr">
                <a:lnSpc>
                  <a:spcPts val="1967"/>
                </a:lnSpc>
              </a:pPr>
            </a:p>
          </p:txBody>
        </p:sp>
      </p:grpSp>
      <p:sp>
        <p:nvSpPr>
          <p:cNvPr name="Freeform 8" id="8"/>
          <p:cNvSpPr/>
          <p:nvPr/>
        </p:nvSpPr>
        <p:spPr>
          <a:xfrm flipH="false" flipV="false" rot="0">
            <a:off x="7448035" y="1226666"/>
            <a:ext cx="376881" cy="376881"/>
          </a:xfrm>
          <a:custGeom>
            <a:avLst/>
            <a:gdLst/>
            <a:ahLst/>
            <a:cxnLst/>
            <a:rect r="r" b="b" t="t" l="l"/>
            <a:pathLst>
              <a:path h="376881" w="376881">
                <a:moveTo>
                  <a:pt x="0" y="0"/>
                </a:moveTo>
                <a:lnTo>
                  <a:pt x="376881" y="0"/>
                </a:lnTo>
                <a:lnTo>
                  <a:pt x="376881" y="376881"/>
                </a:lnTo>
                <a:lnTo>
                  <a:pt x="0" y="3768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556974" y="4516301"/>
            <a:ext cx="13174052" cy="2155889"/>
          </a:xfrm>
          <a:prstGeom prst="rect">
            <a:avLst/>
          </a:prstGeom>
        </p:spPr>
        <p:txBody>
          <a:bodyPr anchor="t" rtlCol="false" tIns="0" lIns="0" bIns="0" rIns="0">
            <a:spAutoFit/>
          </a:bodyPr>
          <a:lstStyle/>
          <a:p>
            <a:pPr algn="ctr">
              <a:lnSpc>
                <a:spcPts val="15500"/>
              </a:lnSpc>
            </a:pPr>
            <a:r>
              <a:rPr lang="en-US" sz="18023" spc="-1261">
                <a:solidFill>
                  <a:srgbClr val="2A245E"/>
                </a:solidFill>
                <a:latin typeface="TT Firs Neue"/>
                <a:ea typeface="TT Firs Neue"/>
                <a:cs typeface="TT Firs Neue"/>
                <a:sym typeface="TT Firs Neue"/>
              </a:rPr>
              <a:t>GRACIAS</a:t>
            </a:r>
          </a:p>
        </p:txBody>
      </p:sp>
      <p:sp>
        <p:nvSpPr>
          <p:cNvPr name="TextBox 10" id="10"/>
          <p:cNvSpPr txBox="true"/>
          <p:nvPr/>
        </p:nvSpPr>
        <p:spPr>
          <a:xfrm rot="0">
            <a:off x="8352074" y="1184887"/>
            <a:ext cx="2451914" cy="527113"/>
          </a:xfrm>
          <a:prstGeom prst="rect">
            <a:avLst/>
          </a:prstGeom>
        </p:spPr>
        <p:txBody>
          <a:bodyPr anchor="t" rtlCol="false" tIns="0" lIns="0" bIns="0" rIns="0">
            <a:spAutoFit/>
          </a:bodyPr>
          <a:lstStyle/>
          <a:p>
            <a:pPr algn="ctr">
              <a:lnSpc>
                <a:spcPts val="1967"/>
              </a:lnSpc>
            </a:pPr>
            <a:r>
              <a:rPr lang="en-US" sz="2288" spc="-160">
                <a:solidFill>
                  <a:srgbClr val="2A245E"/>
                </a:solidFill>
                <a:latin typeface="TT Firs Neue"/>
                <a:ea typeface="TT Firs Neue"/>
                <a:cs typeface="TT Firs Neue"/>
                <a:sym typeface="TT Firs Neue"/>
              </a:rPr>
              <a:t>VISION POR COMPUTADORA II</a:t>
            </a:r>
          </a:p>
        </p:txBody>
      </p:sp>
      <p:sp>
        <p:nvSpPr>
          <p:cNvPr name="TextBox 11" id="11"/>
          <p:cNvSpPr txBox="true"/>
          <p:nvPr/>
        </p:nvSpPr>
        <p:spPr>
          <a:xfrm rot="0">
            <a:off x="7199807" y="9061069"/>
            <a:ext cx="3888387" cy="378206"/>
          </a:xfrm>
          <a:prstGeom prst="rect">
            <a:avLst/>
          </a:prstGeom>
        </p:spPr>
        <p:txBody>
          <a:bodyPr anchor="t" rtlCol="false" tIns="0" lIns="0" bIns="0" rIns="0">
            <a:spAutoFit/>
          </a:bodyPr>
          <a:lstStyle/>
          <a:p>
            <a:pPr algn="ctr">
              <a:lnSpc>
                <a:spcPts val="1462"/>
              </a:lnSpc>
            </a:pPr>
            <a:r>
              <a:rPr lang="en-US" sz="1700" spc="-85">
                <a:solidFill>
                  <a:srgbClr val="2A245E"/>
                </a:solidFill>
                <a:latin typeface="TT Firs Neue"/>
                <a:ea typeface="TT Firs Neue"/>
                <a:cs typeface="TT Firs Neue"/>
                <a:sym typeface="TT Firs Neue"/>
              </a:rPr>
              <a:t>BERNARDO MAXIMILIANO JOSE</a:t>
            </a:r>
          </a:p>
          <a:p>
            <a:pPr algn="ctr">
              <a:lnSpc>
                <a:spcPts val="1462"/>
              </a:lnSpc>
            </a:pPr>
            <a:r>
              <a:rPr lang="en-US" sz="1700" spc="-85">
                <a:solidFill>
                  <a:srgbClr val="2A245E"/>
                </a:solidFill>
                <a:latin typeface="TT Firs Neue"/>
                <a:ea typeface="TT Firs Neue"/>
                <a:cs typeface="TT Firs Neue"/>
                <a:sym typeface="TT Firs Neue"/>
              </a:rPr>
              <a:t>TACCHELLA ALEJANDRO NICOLAS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DAG1EXS3Sxk</dc:identifier>
  <dcterms:modified xsi:type="dcterms:W3CDTF">2011-08-01T06:04:30Z</dcterms:modified>
  <cp:revision>1</cp:revision>
  <dc:title>TP Final - Visión por Computadora II</dc:title>
</cp:coreProperties>
</file>